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7858e407d6420f" /><Relationship Type="http://schemas.openxmlformats.org/officeDocument/2006/relationships/extended-properties" Target="/docProps/app.xml" Id="R1336127e60894507" /><Relationship Type="http://schemas.openxmlformats.org/officeDocument/2006/relationships/officeDocument" Target="/ppt/presentation.xml" Id="R8b285cb382bc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853175a5bc4b27"/>
  </p:sldMasterIdLst>
  <p:notesMasterIdLst>
    <p:notesMasterId xmlns:r="http://schemas.openxmlformats.org/officeDocument/2006/relationships" r:id="R72a3ad46c44e4bb7"/>
  </p:notesMasterIdLst>
  <p:sldIdLst>
    <p:sldId xmlns:r="http://schemas.openxmlformats.org/officeDocument/2006/relationships" id="256" r:id="R99bbb4fcbf624f1a"/>
    <p:sldId xmlns:r="http://schemas.openxmlformats.org/officeDocument/2006/relationships" id="257" r:id="R52b501de9bca4e91"/>
    <p:sldId xmlns:r="http://schemas.openxmlformats.org/officeDocument/2006/relationships" id="258" r:id="R93bfda8679564f6d"/>
    <p:sldId xmlns:r="http://schemas.openxmlformats.org/officeDocument/2006/relationships" id="259" r:id="R95fdeabc3050490e"/>
    <p:sldId xmlns:r="http://schemas.openxmlformats.org/officeDocument/2006/relationships" id="260" r:id="Radf3b202e76d4648"/>
    <p:sldId xmlns:r="http://schemas.openxmlformats.org/officeDocument/2006/relationships" id="261" r:id="R7987a73caec14fc9"/>
    <p:sldId xmlns:r="http://schemas.openxmlformats.org/officeDocument/2006/relationships" id="262" r:id="Re0877a6f91cf4e46"/>
    <p:sldId xmlns:r="http://schemas.openxmlformats.org/officeDocument/2006/relationships" id="263" r:id="R3372dc37a9e8479d"/>
    <p:sldId xmlns:r="http://schemas.openxmlformats.org/officeDocument/2006/relationships" id="264" r:id="R076d3996aa634903"/>
    <p:sldId xmlns:r="http://schemas.openxmlformats.org/officeDocument/2006/relationships" id="265" r:id="R8f3260bbdea046ee"/>
    <p:sldId xmlns:r="http://schemas.openxmlformats.org/officeDocument/2006/relationships" id="266" r:id="R9bb49f84d4f34c0d"/>
    <p:sldId xmlns:r="http://schemas.openxmlformats.org/officeDocument/2006/relationships" id="267" r:id="Rdeaca30b4bde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f14e0ba10b46c4" /><Relationship Type="http://schemas.openxmlformats.org/officeDocument/2006/relationships/slideMaster" Target="/ppt/slideMasters/slideMaster1.xml" Id="R2e853175a5bc4b27" /><Relationship Type="http://schemas.openxmlformats.org/officeDocument/2006/relationships/notesMaster" Target="/ppt/notesMasters/notesMaster1.xml" Id="R72a3ad46c44e4bb7" /><Relationship Type="http://schemas.openxmlformats.org/officeDocument/2006/relationships/presProps" Target="/ppt/presProps.xml" Id="Rbd769aea77124a99" /><Relationship Type="http://schemas.openxmlformats.org/officeDocument/2006/relationships/tableStyles" Target="/ppt/tableStyles.xml" Id="R64d8559c508f4e24" /><Relationship Type="http://schemas.openxmlformats.org/officeDocument/2006/relationships/slide" Target="/ppt/slides/slide1.xml" Id="R99bbb4fcbf624f1a" /><Relationship Type="http://schemas.openxmlformats.org/officeDocument/2006/relationships/slide" Target="/ppt/slides/slide2.xml" Id="R52b501de9bca4e91" /><Relationship Type="http://schemas.openxmlformats.org/officeDocument/2006/relationships/slide" Target="/ppt/slides/slide3.xml" Id="R93bfda8679564f6d" /><Relationship Type="http://schemas.openxmlformats.org/officeDocument/2006/relationships/slide" Target="/ppt/slides/slide4.xml" Id="R95fdeabc3050490e" /><Relationship Type="http://schemas.openxmlformats.org/officeDocument/2006/relationships/slide" Target="/ppt/slides/slide5.xml" Id="Radf3b202e76d4648" /><Relationship Type="http://schemas.openxmlformats.org/officeDocument/2006/relationships/slide" Target="/ppt/slides/slide6.xml" Id="R7987a73caec14fc9" /><Relationship Type="http://schemas.openxmlformats.org/officeDocument/2006/relationships/slide" Target="/ppt/slides/slide7.xml" Id="Re0877a6f91cf4e46" /><Relationship Type="http://schemas.openxmlformats.org/officeDocument/2006/relationships/slide" Target="/ppt/slides/slide8.xml" Id="R3372dc37a9e8479d" /><Relationship Type="http://schemas.openxmlformats.org/officeDocument/2006/relationships/slide" Target="/ppt/slides/slide9.xml" Id="R076d3996aa634903" /><Relationship Type="http://schemas.openxmlformats.org/officeDocument/2006/relationships/slide" Target="/ppt/slides/slide10.xml" Id="R8f3260bbdea046ee" /><Relationship Type="http://schemas.openxmlformats.org/officeDocument/2006/relationships/slide" Target="/ppt/slides/slide11.xml" Id="R9bb49f84d4f34c0d" /><Relationship Type="http://schemas.openxmlformats.org/officeDocument/2006/relationships/slide" Target="/ppt/slides/slide12.xml" Id="Rdeaca30b4bde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a20c6ca96b44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93089a3e34013" /><Relationship Type="http://schemas.openxmlformats.org/officeDocument/2006/relationships/notesMaster" Target="/ppt/notesMasters/notesMaster1.xml" Id="R5a35b994ea61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f49ae644044746" /><Relationship Type="http://schemas.openxmlformats.org/officeDocument/2006/relationships/notesMaster" Target="/ppt/notesMasters/notesMaster1.xml" Id="R957275251f91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bed530aee430a" /><Relationship Type="http://schemas.openxmlformats.org/officeDocument/2006/relationships/notesMaster" Target="/ppt/notesMasters/notesMaster1.xml" Id="Ra0cd1455746548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7e33d5a6641de" /><Relationship Type="http://schemas.openxmlformats.org/officeDocument/2006/relationships/notesMaster" Target="/ppt/notesMasters/notesMaster1.xml" Id="R65433a9be06544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50b02c269d4aa7" /><Relationship Type="http://schemas.openxmlformats.org/officeDocument/2006/relationships/notesMaster" Target="/ppt/notesMasters/notesMaster1.xml" Id="R93724efc090b4a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126c0ceb254a91" /><Relationship Type="http://schemas.openxmlformats.org/officeDocument/2006/relationships/notesMaster" Target="/ppt/notesMasters/notesMaster1.xml" Id="R4697b325de2e42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f970b5adbb4782" /><Relationship Type="http://schemas.openxmlformats.org/officeDocument/2006/relationships/notesMaster" Target="/ppt/notesMasters/notesMaster1.xml" Id="R1dcfd0dc2d2e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da50493fdd4e31" /><Relationship Type="http://schemas.openxmlformats.org/officeDocument/2006/relationships/notesMaster" Target="/ppt/notesMasters/notesMaster1.xml" Id="Rfd5a6903435444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8117b9b6944289" /><Relationship Type="http://schemas.openxmlformats.org/officeDocument/2006/relationships/notesMaster" Target="/ppt/notesMasters/notesMaster1.xml" Id="R5d70d3b1bb024a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57f68022804fa8" /><Relationship Type="http://schemas.openxmlformats.org/officeDocument/2006/relationships/notesMaster" Target="/ppt/notesMasters/notesMaster1.xml" Id="Rfa6832767b2448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c31bb5d77c4b4b" /><Relationship Type="http://schemas.openxmlformats.org/officeDocument/2006/relationships/notesMaster" Target="/ppt/notesMasters/notesMaster1.xml" Id="R6168553cbce84d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aa39e2794f4dcc" /><Relationship Type="http://schemas.openxmlformats.org/officeDocument/2006/relationships/notesMaster" Target="/ppt/notesMasters/notesMaster1.xml" Id="R87a30c74cd4247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各位老师好，我的毕业设计题目是《基于YOLOv8人体姿态识别的运动检测设计与实现》。下面我将从研究背景、技术方案、现有基础、实验计划和预期成果等方面进行汇报。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运动检测常采用人工观察、帧间差分或背景建模，能够判断画面是否变化，却难以判断画面中是不是人、跨帧目标是不是同一个人，以及这个人做了什么动作。因此，本课题希望把人体检测、多目标跟踪、姿态估计和运动判别串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内容依据：开题答辩_逐字稿与QA.md；开题报告_基于YOLOv8人体姿态识别的运动检测设计与实现.md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YOLOv8、DeepSORT和MediaPipe分别解决检测、跟踪和姿态估计问题。现有研究已经证明这些模块各自可用，但将它们放入统一框架，并针对多人、遮挡、计数抖动和实时性进行验证，仍然具有明确的工程研究价值。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本课题的总体目标，是设计并实现一套面向视频场景的人体运动检测系统，完成实时人体检测、身份编号保持、人体关键点提取，以及区域入侵告警和跨线方向计数等功能，并输出可视化结果。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系统主链路从视频输入开始。YOLOv8负责定位人体，DeepSORT负责维持身份。下一阶段将按照每个检测框裁剪行人区域，运行MediaPipe姿态估计，把关键点映射回原图并与track ID绑定，最后输出区域告警、跨线计数和姿态事件。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内容依据：yolov8-deepsort/demo.py；yolov8-deepsort/objtracker.py；mediapipe-plot-pose-live-main/example.py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代码使用YOLOv8s权重，输入尺寸为640乘640，置信度阈值为0.25，交并比阈值为0.70。当前检测器允许person、car、bus和truck四类。正式系统将只保留person类别进入后续流程，避免车辆被错误计入人数或姿态分析。右侧展示的是项目中的连续帧人体标注样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内容依据：yolov8-deepsort/objdetector.py；humandetection/annotations.xml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DeepSORT先通过卡尔曼滤波预测目标运动状态，再利用ReID网络提取外观特征，并通过级联匹配为每个人分配相对稳定的track ID。当前最大余弦距离为0.2，最大丢失年龄为70帧，轨迹连续出现3帧后确认，外观特征预算为100。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内容依据：yolov8-deepsort/objtracker.py；yolov8-deepsort/deep_sort/configs/deep_sort.yaml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MediaPipe可以输出人体33个关键点。当前姿态模块能够独立完成图片推理和三维骨架可视化，但尚未接入检测跟踪主流程。下一阶段将先按照检测框裁剪逐人ROI，再把关键点坐标映射回原图，并持续绑定track ID。这里的深度信息适合相对姿态和动作趋势分析，不能直接表述为医疗级绝对三维测量。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内容依据：mediapipe-plot-pose-live-main/example.py；mediapipe-plot-pose-live-main/plot_pose_live.py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当前设计包含两类运动事件。区域入侵检测利用射线法判断目标中心点是否进入多边形区域。跨线计数记录同一track ID位于计数线哪一侧，当它从一侧移动到另一侧时，根据叉积符号变化判断方向。后续会加入缓冲区、冷却时间和更合适的落地点，减少边界抖动造成的重复触发。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内容依据：yolov8-deepsort/zone.py；yolov8-deepsort/count.py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具备YOLOv8预训练权重、DeepSORT的ReID权重、测试视频、连续帧标注数据和若干功能原型。复核annotations.xml后，当前数据包含41帧、45条person轨迹，帧范围为0到40，分辨率为1280乘720。开题报告中的9条轨迹属于早期统计错误。当前成果仍是模块化原型，不能表述为三个模块已经全部打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内容依据：humandetection/annotations.xml；开题答辩_逐字稿与QA.md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实验采用定量与定性结合的方法。检测部分统计Precision、Recall和mAP，跟踪部分统计MOTA、IDF1和ID Switch。姿态部分根据标注条件选择PCK，只有具备可靠三维真值时才使用MPJPE。业务功能统计告警与计数准确率、误报率和漏报率，并记录平均FPS和单帧延迟。数据按视频片段划分，避免相邻帧造成数据泄漏。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内容依据：开题答辩_逐字稿与QA.md；开题报告_基于YOLOv8人体姿态识别的运动检测设计与实现.md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将按照接口整合、功能完善、实验评估、性能优化和论文撰写的顺序推进。预期成果包括一套可运行的系统、可视化演示视频、完整的对比实验，以及对系统适用范围和局限性的分析。我的汇报完毕，谢谢各位老师，请老师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a6dc03c244e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1cf23725a446a" /><Relationship Type="http://schemas.openxmlformats.org/officeDocument/2006/relationships/slideLayout" Target="/ppt/slideLayouts/slideLayout1.xml" Id="R3d3c1018bb944c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3c1018bb944c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7f7f81e924ceb" /><Relationship Type="http://schemas.openxmlformats.org/officeDocument/2006/relationships/image" Target="/ppt/media/image.png" Id="R9165825077224ea8" /><Relationship Type="http://schemas.openxmlformats.org/officeDocument/2006/relationships/notesSlide" Target="/ppt/notesSlides/notesSlide1.xml" Id="R7fc354768c884e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d37b0654e435a" /><Relationship Type="http://schemas.openxmlformats.org/officeDocument/2006/relationships/image" Target="/ppt/media/image2.png" Id="Ra10a44842ed8456a" /><Relationship Type="http://schemas.openxmlformats.org/officeDocument/2006/relationships/notesSlide" Target="/ppt/notesSlides/notesSlide2.xml" Id="R299d520cafa14f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5a30dae0a4dd8" /><Relationship Type="http://schemas.openxmlformats.org/officeDocument/2006/relationships/notesSlide" Target="/ppt/notesSlides/notesSlide3.xml" Id="Re65517c7b5de44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ba447f5e84f5d" /><Relationship Type="http://schemas.openxmlformats.org/officeDocument/2006/relationships/notesSlide" Target="/ppt/notesSlides/notesSlide4.xml" Id="R7165a4350e3a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3f35022494d55" /><Relationship Type="http://schemas.openxmlformats.org/officeDocument/2006/relationships/notesSlide" Target="/ppt/notesSlides/notesSlide5.xml" Id="Reecee377628443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6f0cce7b14403" /><Relationship Type="http://schemas.openxmlformats.org/officeDocument/2006/relationships/image" Target="/ppt/media/image3.png" Id="Rce7af3d2751d4a8f" /><Relationship Type="http://schemas.openxmlformats.org/officeDocument/2006/relationships/notesSlide" Target="/ppt/notesSlides/notesSlide6.xml" Id="Rc2c16c712e134f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46c6c64ba4cd2" /><Relationship Type="http://schemas.openxmlformats.org/officeDocument/2006/relationships/notesSlide" Target="/ppt/notesSlides/notesSlide7.xml" Id="Rf68dc3a2a29743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6ba3b673a466c" /><Relationship Type="http://schemas.openxmlformats.org/officeDocument/2006/relationships/image" Target="/ppt/media/image.jpeg" Id="Rf1503eea649d4be9" /><Relationship Type="http://schemas.openxmlformats.org/officeDocument/2006/relationships/notesSlide" Target="/ppt/notesSlides/notesSlide8.xml" Id="R0b72b386c6fb4e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ed3391aea442e" /><Relationship Type="http://schemas.openxmlformats.org/officeDocument/2006/relationships/notesSlide" Target="/ppt/notesSlides/notesSlide9.xml" Id="R24553d8f3b8646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b4666a1a04829" /><Relationship Type="http://schemas.openxmlformats.org/officeDocument/2006/relationships/image" Target="/ppt/media/image4.png" Id="Rf199cf4668054e16" /><Relationship Type="http://schemas.openxmlformats.org/officeDocument/2006/relationships/image" Target="/ppt/media/image5.png" Id="R457d2affae604abb" /><Relationship Type="http://schemas.openxmlformats.org/officeDocument/2006/relationships/notesSlide" Target="/ppt/notesSlides/notesSlide10.xml" Id="R23b92772cd6141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efb074ed043fe" /><Relationship Type="http://schemas.openxmlformats.org/officeDocument/2006/relationships/notesSlide" Target="/ppt/notesSlides/notesSlide11.xml" Id="R6002b61f431a42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e691bedb24c4d" /><Relationship Type="http://schemas.openxmlformats.org/officeDocument/2006/relationships/notesSlide" Target="/ppt/notesSlides/notesSlide12.xml" Id="R13aa6456bd094a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5825077224ea8"/>
          <a:srcRect xmlns:a="http://schemas.openxmlformats.org/drawingml/2006/main" l="28125" t="0" r="28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95D6C-AF7B-4240-9AEE-9D67D958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EA3D8-1D32-48DD-8326-53E27CCC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B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A044F-C3B2-4BB7-A97F-30B03186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广州工商学院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81E19-99C6-4CF6-89FA-BD0F3A6C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5524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基于YOLOv8人体姿态识别的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运动检测设计与实现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FE476-A06C-4CC9-BE39-1599CCE3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本科毕业论文（设计）开题答辩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A5B22-8D4C-40B1-8D1B-98B5117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rPr>
              <a:t>汇报人：________    指导教师：________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8A68C-5205-4639-A454-8C15E45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3CE"/>
                </a:solidFill>
                <a:latin typeface="Microsoft YaHei"/>
                <a:ea typeface="Microsoft YaHei"/>
                <a:cs typeface="Microsoft YaHei"/>
              </a:rPr>
              <a:t>2026年</a:t>
            </a:r>
          </a:p>
        </p:txBody>
      </p:sp>
    </p:spTree>
    <p:extLst>
      <p:ext uri="{BB962C8B-B14F-4D97-AF65-F5344CB8AC3E}">
        <p14:creationId xmlns:p14="http://schemas.microsoft.com/office/powerpoint/2010/main" val="351108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C9773-3A16-40E3-A8EF-7E4BB07A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BBEAC-24A0-41A5-9F4F-B093604C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研究背景与问题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6C6A9-EEC6-4955-9521-8C82B1F8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传统方法能发现画面变化，但难以理解人物身份和运动含义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EA95F-16F9-4455-AD9A-5F389AC0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21192-2E3B-47BF-8B0A-961CB640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a44842ed8456a"/>
          <a:srcRect xmlns:a="http://schemas.openxmlformats.org/drawingml/2006/main" l="19025" t="0" r="19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524000"/>
            <a:ext cx="4762500" cy="4324350"/>
          </a:xfrm>
          <a:prstGeom xmlns:a="http://schemas.openxmlformats.org/drawingml/2006/main" prst="roundRect">
            <a:avLst>
              <a:gd name="adj" fmla="val 39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611D3-A644-4294-B8B5-68F29235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61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运动检测需要回答三个连续问题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00FB7-B0AE-4D79-92F1-F122A7F1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31846-0615-4F1C-853B-62BDCA8D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人在哪里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5D4B0-067B-49ED-A2FE-56050085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YOLOv8定位视频帧中的人体目标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FF74C-A5C4-4D06-BC11-7D4C85A8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8F265-54D3-4E90-AE84-1FF1E38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是不是同一个人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C485D-A505-43A4-9B5D-7E481670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909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DeepSORT维持跨帧身份和运动轨迹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F8EAE-D804-41DC-9773-44BEE74A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314BF-2F3D-4DA9-B048-75DD7F9E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发生了什么运动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9D9B1-3387-4879-AEA7-E7E129D1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96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姿态关键点与位置变化支撑事件判别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6A10A-F608-46B8-ADBE-4A8BAE0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目标：形成从视频输入到运动事件输出的完整链路</a:t>
            </a:r>
          </a:p>
        </p:txBody>
      </p:sp>
    </p:spTree>
    <p:extLst>
      <p:ext uri="{BB962C8B-B14F-4D97-AF65-F5344CB8AC3E}">
        <p14:creationId xmlns:p14="http://schemas.microsoft.com/office/powerpoint/2010/main" val="2018392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1B921-ED8F-4880-806A-704ABC80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202E2-B6C3-4BA7-A041-390A4F08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相关技术与研究现状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C69E7-E53B-4B63-801F-158024DF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三类成熟技术已经具备工程基础，难点在于统一数据链路与场景化验证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72451-91BF-412F-A6C8-F0FC85E9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2F0E-3718-4D2B-A091-3BE262F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8F265-D9E8-4E33-8B38-C7D548A0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目标检测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AACA9-84B6-4714-B7BC-4AD14D1A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YOLOv8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C4E38-5A52-4A55-8085-2A7851D0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单阶段检测器兼顾速度与精度，适合视频流中的多人定位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237EC-CC09-4709-BE74-8663FCAD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80495-41A2-4D64-822C-1983124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多目标跟踪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B1E92-926A-47CB-B114-B2012A93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DeepSORT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0BED8-3834-4E05-9CD6-2695D862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结合卡尔曼滤波与外观特征，降低遮挡场景中的身份切换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4DF58-5BF5-458B-BF95-5889143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70F87-6693-4BB6-AABC-08C900C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姿态估计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ED6D0-B8C5-4E4B-9BF6-896B25EC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MediaPipe 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3D79A-7C1E-4968-B1D8-71A23C7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输出33个人体关键点，为角度、姿态和动作趋势分析提供输入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6B97A-C163-4C86-8E50-F5ECDEB2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B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7A26D-5DD4-4BFF-8E2B-8C6EF2E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研究重点：检测、跟踪、姿态和规则判别的工程融合与可验证改进</a:t>
            </a:r>
          </a:p>
        </p:txBody>
      </p:sp>
    </p:spTree>
    <p:extLst>
      <p:ext uri="{BB962C8B-B14F-4D97-AF65-F5344CB8AC3E}">
        <p14:creationId xmlns:p14="http://schemas.microsoft.com/office/powerpoint/2010/main" val="1238675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C8C3E-ED7F-411C-9FAE-BF81519A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84DB1-A79F-4127-ABD9-919F2BA1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研究目标与主要内容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5CE82-6CE6-40F7-A382-70238058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系统面向视频场景，输出稳定身份、姿态信息和运动事件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5406B-43F4-4FE2-B146-FF3C226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95D9D-E4AC-470F-BA39-1ADBC81A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A3968-1420-4CE3-BBA8-80374DC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AA438-672A-4D56-A6C5-7B2AEB67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B8B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86825-5E39-4107-9EF1-445BA07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人体检测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28107-4822-4137-9DA6-6A03ACF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定位人体边界框</a:t>
            </a:r>
          </a:p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过滤person类别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E1352-C9AB-4AAD-8347-7D013308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34047-68D1-482E-B2D8-8BF52CDE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B8B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49C64-BCF0-44ED-B8E1-E764334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身份跟踪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9F849-993A-488A-8618-E019786F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维持track ID</a:t>
            </a:r>
          </a:p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记录运动轨迹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DF2C3-AD6A-41F5-AD91-6B051B5A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CCD50-9157-4378-8D6D-39FD3EFD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24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B8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7ACDA-B3DA-4C1F-AD8F-CBF067BA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姿态提取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793C5-3BCA-47C4-9101-1C55BC0E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提取33个关键点</a:t>
            </a:r>
          </a:p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映射回原图坐标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6C106-B372-4981-A145-52BD0533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7E95E-D577-4F6C-9F9E-06E8C21D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5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D7A58-1190-4D69-8302-99476D6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71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运动判别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4EBBD-0693-4268-B76C-12789292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2114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区域入侵告警</a:t>
            </a:r>
          </a:p>
          <a:p xmlns:a="http://schemas.openxmlformats.org/drawingml/2006/main"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跨线方向计数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28E66-B8CB-4E31-B8FD-641D35CD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9700"/>
            <a:ext cx="2857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可视化输出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7F89E-20DD-463D-8FC5-8B1F4C4E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340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检测框、身份编号、运动轨迹、姿态骨架与事件结果</a:t>
            </a:r>
          </a:p>
        </p:txBody>
      </p:sp>
    </p:spTree>
    <p:extLst>
      <p:ext uri="{BB962C8B-B14F-4D97-AF65-F5344CB8AC3E}">
        <p14:creationId xmlns:p14="http://schemas.microsoft.com/office/powerpoint/2010/main" val="1123332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7F28E9-F1BB-4451-8BD4-86C3000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B11DC-BD64-415C-816C-E66C0C0A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系统技术路线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EC20A-8459-40F6-9B8F-49DD75C8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主链路先完成检测与身份关联，再扩展逐人姿态和运动事件分析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2CDDE-82AB-43D9-8D76-58DD27C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AF4B3-7B08-4925-963D-3107CD0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439D3-3FFE-4201-99B1-682D2C6D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81F13-A0AD-4B3B-BE8D-4DA27007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8D34F-D5A7-4FED-B28C-1CBEF0D0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摄像头或视频文件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48482-8B0A-42CA-A9D6-38EAB475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812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64D8A-4BF6-4F11-A048-22053AF5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955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YOLOv8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E094A-0DD4-412F-BB6F-D2D58AEB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人体检测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07645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468D9-7A3B-434F-B662-63FF0156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AA5B8-B7B8-4626-9514-7F4C13D8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6661F-541F-4E9E-9E7E-DA293488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身份关联</a:t>
            </a:r>
          </a:p>
        </p:txBody>
      </p: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8145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C1A97-1BA4-415E-8758-4EF0F2DC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28354-2319-444A-8D40-462E3337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逐人ROI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C6BD9-56B3-49EA-93F1-F655AA39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保留track ID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8645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ACB79-FE15-4A6A-9162-9B4B4DF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B5E0F-AFA1-466C-91BE-8E8D33F7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MediaPipe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6210D-25E4-4EB2-99DC-185DC8B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33点姿态</a:t>
            </a:r>
          </a:p>
        </p:txBody>
      </p: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79145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353E4-F101-4EB9-84D5-011D69B1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1562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43289-70A8-44BC-8CAE-24E7198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298DBD-ABC9-4E57-887A-E20E12E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告警与计数</a:t>
            </a:r>
          </a:p>
        </p:txBody>
      </p:sp>
      <p:cxnSp>
        <p:nvCxnSpPr>
          <p:cNvPr id="63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69645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4605A-46C4-413D-92D8-CF50D94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42C710-DC6E-47AE-ADA0-462472CB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14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位置规则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44FC4C-0BFB-4ABB-9189-B11EDA4D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多边形区域判断与跨线方向判断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34CF65-263E-4CB4-9221-03A2538F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14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姿态规则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4CB834-79F5-4026-939C-E3790A2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10150"/>
            <a:ext cx="321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关键点角度、时序变化与动作状态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C1CB33-E14B-4A16-B88E-200F806B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当前已连通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0B00E0-96B1-4527-80AF-369567E0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64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</p:spTree>
    <p:extLst>
      <p:ext uri="{BB962C8B-B14F-4D97-AF65-F5344CB8AC3E}">
        <p14:creationId xmlns:p14="http://schemas.microsoft.com/office/powerpoint/2010/main" val="891544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FFA27-F924-4C1E-9D5D-9D730F1E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047E7-773B-42EE-9AD4-640F757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YOLOv8人体检测模块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5D7EB-B98B-41BA-A94A-BB045090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现有代码采用YOLOv8s，正式人体业务需要显式过滤person类别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ED82A-2137-42BD-B3DB-C736453E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842B2-0550-45BB-8283-28F93EA2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af3d2751d4a8f"/>
          <a:stretch xmlns:a="http://schemas.openxmlformats.org/drawingml/2006/main"/>
        </p:blipFill>
        <p:spPr>
          <a:xfrm xmlns:a="http://schemas.openxmlformats.org/drawingml/2006/main">
            <a:off x="6000750" y="2037159"/>
            <a:ext cx="5524500" cy="3107531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EB635-F535-48B0-BA1B-16F32E08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现有配置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9FDA1-EE3F-47E2-97B4-C434614B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权重：yolov8s.pt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输入尺寸：640 × 640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置信度阈值：0.25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IoU阈值：0.70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B309B-A47A-4937-A4D9-2DFF172C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57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19050">
            <a:solidFill>
              <a:srgbClr val="F2B5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1CB7A-5FB2-4FCD-B10E-2ABB35CA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A5B00"/>
                </a:solidFill>
                <a:latin typeface="Microsoft YaHei"/>
                <a:ea typeface="Microsoft YaHei"/>
                <a:cs typeface="Microsoft YaHei"/>
              </a:rPr>
              <a:t>接口修正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A9A8A-A7C2-4EAE-9253-3A9EB3B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当前允许 person、car、bus、truck。后续只让 person 进入跟踪与姿态分析。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707F6-9AFA-48AE-9E28-76FE336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2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现有连续帧标注样例</a:t>
            </a:r>
          </a:p>
        </p:txBody>
      </p:sp>
    </p:spTree>
    <p:extLst>
      <p:ext uri="{BB962C8B-B14F-4D97-AF65-F5344CB8AC3E}">
        <p14:creationId xmlns:p14="http://schemas.microsoft.com/office/powerpoint/2010/main" val="477941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0EDDE-55FB-4231-AFBB-7E53FA7D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65E42-B44B-4246-B947-6EC982A4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DeepSORT多目标跟踪模块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CF4A8-098B-4F61-BD05-C4116D81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运动预测与外观匹配共同维持跨帧身份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3B0D6-F458-4014-8DFE-8F73E962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55000-084C-478B-81C3-BA11D19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57AF6-6B59-4D0F-A795-E08EFCF4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25717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19050">
            <a:solidFill>
              <a:srgbClr val="0B8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8502B-72A8-40E3-BB7A-B9D62E7F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5717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19050">
            <a:solidFill>
              <a:srgbClr val="1239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F29AC-CB71-43A3-BF32-D91DBDD9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266700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0A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5119D-A1E8-4157-BF75-DBCA637E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26695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11196-34A0-44B6-AF5B-E3C6F6B7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卡尔曼滤波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04876-F1C8-4F2A-9044-B6197B86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预测下一帧位置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4D40C-2D5B-4899-9851-81DA6F1C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ReID外观特征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3E27E-43C9-480A-A4C1-9A2EE135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计算余弦距离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96E0C-AB4A-430A-936F-0365C436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级联数据关联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1A21F-A97F-42F9-847A-1FC832A6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rPr>
              <a:t>运动信息与外观信息联合匹配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59FB8-AF75-4FAE-9CC0-DFBACEF6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稳定 track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09659-1161-4D7A-A0E3-17887748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85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85100"/>
                </a:solidFill>
                <a:latin typeface="Microsoft YaHei"/>
                <a:ea typeface="Microsoft YaHei"/>
                <a:cs typeface="Microsoft YaHei"/>
              </a:rPr>
              <a:t>轨迹与业务状态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29000" y="2552700"/>
            <a:ext cx="142875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8F8A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29000" y="3486150"/>
            <a:ext cx="142875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3954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3486150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B544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4FB55-D8FE-43B5-9F05-313D158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38800"/>
            <a:ext cx="885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MAX_DIST 0.2     MAX_AGE 70     N_INIT 3     NN_BUDGET 100</a:t>
            </a:r>
          </a:p>
        </p:txBody>
      </p:sp>
    </p:spTree>
    <p:extLst>
      <p:ext uri="{BB962C8B-B14F-4D97-AF65-F5344CB8AC3E}">
        <p14:creationId xmlns:p14="http://schemas.microsoft.com/office/powerpoint/2010/main" val="1378384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A70F0-F0E2-4DF0-9D68-D58472E0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78E63-56E9-4BE8-9421-FFEE3BB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MediaPipe姿态估计模块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F46E7-D772-448B-8EE4-801A506F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当前能够独立完成图片推理与三维骨架可视化，尚未接入主流程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BCC62-A30E-487A-A0D1-907D1D1A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14371-58EB-4CC0-91FB-08CB5EB7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03eea649d4b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4953000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96B82-6D63-478A-A375-59F3F77C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F72F7-FC1C-4542-8C6B-C716B675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4572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调用MediaPipe Pose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输出33个人体关键点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生成三维骨架可视化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9E5E7-1E4E-44F7-8EA2-4A98BF99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下一阶段接口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3907A-D9AF-4DC4-B7C4-F7D7AB0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逐人ROI裁剪    关键点映射    track ID绑定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12775-F27B-45FD-9C0F-DC3985E1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关键点用于角度与动作趋势分析，不作为医疗级绝对三维测量</a:t>
            </a:r>
          </a:p>
        </p:txBody>
      </p:sp>
    </p:spTree>
    <p:extLst>
      <p:ext uri="{BB962C8B-B14F-4D97-AF65-F5344CB8AC3E}">
        <p14:creationId xmlns:p14="http://schemas.microsoft.com/office/powerpoint/2010/main" val="5166196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5EB57-3477-48D3-86D4-B6CDA1FC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DB169-98D1-48DB-A263-20038AC0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运动事件判别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28B84-04A4-4C95-BE0F-03431E1F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跟踪ID使区域告警和越线计数具备连续状态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6093E-1A2F-4277-8C86-3BDE205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AC8D0-431C-44B0-A4DF-FC03955B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E30D5-3144-4526-93A1-84F80F9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区域入侵检测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BF550-BD62-4A32-8955-EDD89864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390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B0062-035F-43B6-8A23-43519F10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2381250" cy="11430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28575">
            <a:solidFill>
              <a:srgbClr val="F2B5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8D9D8-84F1-4EDB-BB96-B3DCBFFD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38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59458-DD25-4B06-B84F-916FE377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242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目标中心点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B6391-2A0D-4F76-8A45-312690BC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射线法判断中心点是否位于多边形内部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CCC50-BC6B-4B04-B9C9-A1C2B67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跨线方向计数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A1B72-7B63-430F-98B6-3F097DB4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28850"/>
            <a:ext cx="390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AFDA6-10A3-4FF8-9F10-EDB501CD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5C5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91C93-3AF4-4975-87C0-9AF352E8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7C005-8487-451C-870A-2311461B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43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4"/>
          </a:solidFill>
          <a:ln xmlns:a="http://schemas.openxmlformats.org/drawingml/2006/main" w="19050">
            <a:solidFill>
              <a:srgbClr val="FFFFFF"/>
            </a:solidFill>
          </a:ln>
        </p:spPr>
      </p:sp>
      <p:cxnSp>
        <p:nvCxnSpPr>
          <p:cNvPr id="36" name=""/>
          <p:cNvCxnSpPr>
            <a:stCxn xmlns:a="http://schemas.openxmlformats.org/drawingml/2006/main" id="15" idx="5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40153" y="2968053"/>
            <a:ext cx="1664844" cy="101714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23954"/>
            </a:solidFill>
            <a:prstDash val="solid"/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884B4-2116-4249-9388-2F42946B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同一ID跨越计数线后，根据叉积符号变化判断方向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34BB3-8E82-4338-8588-282B7C5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293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后续改进：缓冲区、冷却时间和底边中心点，降低边界抖动与重复触发</a:t>
            </a:r>
          </a:p>
        </p:txBody>
      </p:sp>
    </p:spTree>
    <p:extLst>
      <p:ext uri="{BB962C8B-B14F-4D97-AF65-F5344CB8AC3E}">
        <p14:creationId xmlns:p14="http://schemas.microsoft.com/office/powerpoint/2010/main" val="99253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7CAD6-23BF-4DEC-9A4A-79E1F5B8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2D35A-4F1D-496D-9413-C264C88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现有基础与项目边界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D7B0E-4940-4284-8B87-80CCBBCC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已有检测跟踪和业务原型，姿态融合与规范评测仍是后续重点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67BEF-BA2C-494F-8C0C-463788A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BE0FE-B080-42E7-9681-5A8CC50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9cf4668054e16"/>
          <a:srcRect xmlns:a="http://schemas.openxmlformats.org/drawingml/2006/main" l="6926" t="0" r="6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81150"/>
            <a:ext cx="3238500" cy="211455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d2affae604abb"/>
          <a:srcRect xmlns:a="http://schemas.openxmlformats.org/drawingml/2006/main" l="6926" t="0" r="6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581150"/>
            <a:ext cx="3238500" cy="211455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64F3E-A924-4F02-ABF7-1A0B51A1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41帧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DA4BE-4FDB-49DA-A723-5F621E43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45条 person 轨迹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9C819-DEA7-4E77-A3BD-8DF33706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38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1280 × 720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2B306-E00B-493F-A239-03C96E74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00BB2-7637-49F9-8233-AC2A9A27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48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CVAT标注样例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42E99-8078-46A2-8BB7-F29CF9DB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41123-7B44-42F6-AB4D-C513E677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已具备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598B6-5870-44B1-8B2A-6F5FB837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检测、跟踪、轨迹绘制、区域告警、越线计数、姿态独立示例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93245-FCD6-4F7D-9298-C025F579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尚待完成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ED02F-A161-4DFD-9F9D-34681DDE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MediaPipe主流程接入、类别传递、设备配置统一、可重复性能实验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14582-3D7E-41AB-BDC2-412B971D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436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开题报告中的“9条轨迹”已按原始XML复核为45条</a:t>
            </a:r>
          </a:p>
        </p:txBody>
      </p:sp>
    </p:spTree>
    <p:extLst>
      <p:ext uri="{BB962C8B-B14F-4D97-AF65-F5344CB8AC3E}">
        <p14:creationId xmlns:p14="http://schemas.microsoft.com/office/powerpoint/2010/main" val="1739586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D2AF0-48C9-4F03-A810-C852E415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5719B-6DCE-45A6-84F0-AA06064B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实验方案与评价指标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04897-5A9D-4F3B-B0C1-04EED66F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所有结果在固定数据、硬件和参数后实测，不预设性能结论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74676-EAE1-4EE8-A862-77A11C73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E17AD-4D0D-4EF6-8073-CDD7F525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2E948-3412-4398-95E4-0D64B3B5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89C63-EBE3-4C72-B445-AB768EB7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F59F7-CDCE-41BC-A6BD-89BEE59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81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Precision、Recall、mAP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D9F50-26E7-49CE-BDB2-449D47F6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A1667-D79F-422C-8474-966AA0B0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跟踪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E91CB-552D-448B-8F33-86AEFD89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MOTA、IDF1、ID Switch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69911-52D4-4791-903C-7411C300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5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62DB1-BF54-487A-91BA-CE2FFA0A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姿态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A7E7F-34CE-4403-9FCD-E10879B4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PCK，具备可靠三维真值后再使用MPJPE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EAAB1-3D26-4A50-8957-FBF701FC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14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C6BF9-EEC8-43F7-9C11-759C0ABF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业务与实时性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3AB76-CB84-46D4-8C48-5D7C4520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告警与计数准确率、误报率、漏报率、FPS、单帧延迟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30E87-9F51-4D30-B560-3A3E8C7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287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EF3F5"/>
          </a:solidFill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7F5559-6467-4A09-980E-3C15A2C9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验证策略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CA0C9-0B04-49AA-8E68-B18D27E9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530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按视频片段划分数据集，比较YOLOv8n与YOLOv8s、CPU与GPU，以及不同姿态推理频率。通过分阶段对照和消融实验验证改进是否有效。</a:t>
            </a:r>
          </a:p>
        </p:txBody>
      </p:sp>
    </p:spTree>
    <p:extLst>
      <p:ext uri="{BB962C8B-B14F-4D97-AF65-F5344CB8AC3E}">
        <p14:creationId xmlns:p14="http://schemas.microsoft.com/office/powerpoint/2010/main" val="6404645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81410-D247-4EBB-A153-0B0AE188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07245-07C3-4B46-BB5A-69EE5482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后续计划与预期成果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2CB64-8F1E-4FE2-85FF-28A20C2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按照接口整合、功能完善、实验评估、性能优化和论文撰写推进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EE09A-4D76-4B81-82C6-5774A13F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6C8FE-B5AE-45EC-AB6F-3BD5971C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B50AA-62CB-42BA-9C20-11D547CD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F2872-0C97-4D9D-A67D-615028D9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20C87-866C-4EE5-858A-B2955D6F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接口整合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26C82-E50A-4B00-8974-A505BE55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接入逐人姿态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64129-73BA-46BB-8861-C6D26F8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FF2B6-CFC2-4BA5-9910-1C3D9B70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05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901FF-EA84-4408-B998-24686A2D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功能完善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D0845-BD57-4C66-9052-82F4528D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81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类别过滤与抗抖</a:t>
            </a:r>
          </a:p>
        </p:txBody>
      </p:sp>
      <p:cxnSp>
        <p:nvCxnSpPr>
          <p:cNvPr id="47" name=""/>
          <p:cNvCxnSpPr>
            <a:stCxn xmlns:a="http://schemas.openxmlformats.org/drawingml/2006/main" id="6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943100" y="218122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33CDB-89A4-40C6-80E6-15649EF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85A12-E109-4811-8B29-AB8EBD8B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A56B9-1183-43EB-BE7A-9FED84C4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实验评估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BBF6A-6A07-467A-942D-A32B3C1E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建立可复现实验</a:t>
            </a:r>
          </a:p>
        </p:txBody>
      </p:sp>
      <p:cxnSp>
        <p:nvCxnSpPr>
          <p:cNvPr id="52" name=""/>
          <p:cNvCxnSpPr>
            <a:stCxn xmlns:a="http://schemas.openxmlformats.org/drawingml/2006/main" id="10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4229100" y="218122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62379-6D21-4E68-85D6-AF2368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A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094AE-7BD1-46DD-A218-BDEF4812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93E5D-5200-40A9-915A-7784B2F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性能优化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14810-27DE-405A-A0F0-1EE0127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81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比较模型与设备</a:t>
            </a:r>
          </a:p>
        </p:txBody>
      </p:sp>
      <p:cxnSp>
        <p:nvCxnSpPr>
          <p:cNvPr id="57" name=""/>
          <p:cNvCxnSpPr>
            <a:stCxn xmlns:a="http://schemas.openxmlformats.org/drawingml/2006/main" id="15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6515100" y="218122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C73E1-015E-4E30-9A4C-F1C280D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544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74296-19F4-4260-ADCC-ED9057DE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87475-7310-471C-BC86-5AC014F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论文撰写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FDE5D-E0BC-4026-A8EF-425C224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813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整理结果与局限</a:t>
            </a:r>
          </a:p>
        </p:txBody>
      </p:sp>
      <p:cxnSp>
        <p:nvCxnSpPr>
          <p:cNvPr id="62" name=""/>
          <p:cNvCxnSpPr>
            <a:stCxn xmlns:a="http://schemas.openxmlformats.org/drawingml/2006/main" id="20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8801100" y="2181225"/>
            <a:ext cx="1733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5869E9-F9E7-459F-A0D1-755200E4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D0F07-2114-4926-B8E3-EA5CCA3E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AE93F3-22E1-4719-853F-CAC0E858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529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可运行系统、可视化演示视频、对比实验结果、毕业论文与适用范围分析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ECFE64-53C1-4C80-8F58-7408C22D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68059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2026-09-14T04:18:26.7030000Z</dcterms:created>
  <dcterms:modified xsi:type="dcterms:W3CDTF">2026-09-14T04:18:26.7030000Z</dcterms:modified>
</coreProperties>
</file>