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6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各位老师好，我的毕业设计题目是《基于YOLOv8人体姿态识别的运动检测设计与实现》。下面我将从研究背景、技术方案、现有基础、实验计划和预期成果等方面进行汇报。</a:t>
            </a:r>
          </a:p>
          <a:p>
            <a:endParaRPr/>
          </a:p>
          <a:p>
            <a:r>
              <a:t>内容依据：开题答辩_逐字稿与QA.md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传统运动检测常采用人工观察、帧间差分或背景建模，能够判断画面是否变化，却难以判断画面中是不是人、跨帧目标是不是同一个人，以及这个人做了什么动作。因此，本课题希望把人体检测、多目标跟踪、姿态估计和运动判别串联起来。</a:t>
            </a:r>
          </a:p>
          <a:p>
            <a:endParaRPr/>
          </a:p>
          <a:p>
            <a:r>
              <a:t>内容依据：开题答辩_逐字稿与QA.md；开题报告_基于YOLOv8人体姿态识别的运动检测设计与实现.md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YOLOv8、DeepSORT和MediaPipe分别解决检测、跟踪和姿态估计问题。现有研究已经证明这些模块各自可用，但将它们放入统一框架，并针对多人、遮挡、计数抖动和实时性进行验证，仍然具有明确的工程研究价值。</a:t>
            </a:r>
          </a:p>
          <a:p>
            <a:endParaRPr/>
          </a:p>
          <a:p>
            <a:r>
              <a:t>内容依据：开题报告_基于YOLOv8人体姿态识别的运动检测设计与实现.md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本课题的总体目标，是设计并实现一套面向视频场景的人体运动检测系统，完成实时人体检测、身份编号保持、人体关键点提取，以及区域入侵告警和跨线方向计数等功能，并输出可视化结果。</a:t>
            </a:r>
          </a:p>
          <a:p>
            <a:endParaRPr/>
          </a:p>
          <a:p>
            <a:r>
              <a:t>内容依据：开题答辩_逐字稿与QA.md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系统主链路从视频输入开始。YOLOv8负责定位人体，DeepSORT负责维持身份。下一阶段将按照每个检测框裁剪行人区域，运行MediaPipe姿态估计，把关键点映射回原图并与track ID绑定，最后输出区域告警、跨线计数和姿态事件。</a:t>
            </a:r>
          </a:p>
          <a:p>
            <a:endParaRPr/>
          </a:p>
          <a:p>
            <a:r>
              <a:t>内容依据：yolov8-deepsort/demo.py；yolov8-deepsort/objtracker.py；mediapipe-plot-pose-live-main/example.py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有代码使用YOLOv8s权重，输入尺寸为640乘640，置信度阈值为0.25，交并比阈值为0.70。当前检测器允许person、car、bus和truck四类。正式系统将只保留person类别进入后续流程，避免车辆被错误计入人数或姿态分析。右侧展示的是项目中的连续帧人体标注样例。</a:t>
            </a:r>
          </a:p>
          <a:p>
            <a:endParaRPr/>
          </a:p>
          <a:p>
            <a:r>
              <a:t>内容依据：yolov8-deepsort/objdetector.py；humandetection/annotations.xml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DeepSORT先通过卡尔曼滤波预测目标运动状态，再利用ReID网络提取外观特征，并通过级联匹配为每个人分配相对稳定的track ID。当前最大余弦距离为0.2，最大丢失年龄为70帧，轨迹连续出现3帧后确认，外观特征预算为100。</a:t>
            </a:r>
          </a:p>
          <a:p>
            <a:endParaRPr/>
          </a:p>
          <a:p>
            <a:r>
              <a:t>内容依据：yolov8-deepsort/objtracker.py；yolov8-deepsort/deep_sort/configs/deep_sort.yaml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MediaPipe可以输出人体33个关键点。当前姿态模块能够独立完成图片推理和三维骨架可视化，但尚未接入检测跟踪主流程。下一阶段将先按照检测框裁剪逐人ROI，再把关键点坐标映射回原图，并持续绑定track ID。这里的深度信息适合相对姿态和动作趋势分析，不能直接表述为医疗级绝对三维测量。</a:t>
            </a:r>
          </a:p>
          <a:p>
            <a:endParaRPr/>
          </a:p>
          <a:p>
            <a:r>
              <a:t>内容依据：mediapipe-plot-pose-live-main/example.py；mediapipe-plot-pose-live-main/plot_pose_live.py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当前设计包含两类运动事件。区域入侵检测利用射线法判断目标中心点是否进入多边形区域。跨线计数记录同一track ID位于计数线哪一侧，当它从一侧移动到另一侧时，根据叉积符号变化判断方向。后续会加入缓冲区、冷却时间和更合适的落地点，减少边界抖动造成的重复触发。</a:t>
            </a:r>
          </a:p>
          <a:p>
            <a:endParaRPr/>
          </a:p>
          <a:p>
            <a:r>
              <a:t>内容依据：yolov8-deepsort/zone.py；yolov8-deepsort/count.py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已经具备YOLOv8预训练权重、DeepSORT的ReID权重、测试视频、连续帧标注数据和若干功能原型。复核annotations.xml后，当前数据包含41帧、45条person轨迹，帧范围为0到40，分辨率为1280乘720。开题报告中的9条轨迹属于早期统计错误。当前成果仍是模块化原型，不能表述为三个模块已经全部打通。</a:t>
            </a:r>
          </a:p>
          <a:p>
            <a:endParaRPr/>
          </a:p>
          <a:p>
            <a:r>
              <a:t>内容依据：humandetection/annotations.xml；开题答辩_逐字稿与QA.md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实验采用定量与定性结合的方法。检测部分统计Precision、Recall和mAP，跟踪部分统计MOTA、IDF1和ID Switch。姿态部分根据标注条件选择PCK，只有具备可靠三维真值时才使用MPJPE。业务功能统计告警与计数准确率、误报率和漏报率，并记录平均FPS和单帧延迟。数据按视频片段划分，避免相邻帧造成数据泄漏。</a:t>
            </a:r>
          </a:p>
          <a:p>
            <a:endParaRPr/>
          </a:p>
          <a:p>
            <a:r>
              <a:t>内容依据：开题答辩_逐字稿与QA.md；开题报告_基于YOLOv8人体姿态识别的运动检测设计与实现.md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后续将按照接口整合、功能完善、实验评估、性能优化和论文撰写的顺序推进。预期成果包括一套可运行的系统、可视化演示视频、完整的对比实验，以及对系统适用范围和局限性的分析。我的汇报完毕，谢谢各位老师，请老师批评指正。</a:t>
            </a:r>
          </a:p>
          <a:p>
            <a:endParaRPr/>
          </a:p>
          <a:p>
            <a:r>
              <a:t>内容依据：开题答辩_逐字稿与QA.md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28125" r="28125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ns3:creationId id="{8B895D6C-AF7B-4240-9AEE-9D67D95836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A1F33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ns3:creationId id="{121EA3D8-1D32-48DD-8326-53E27CCC1EB7}"/>
              </a:ext>
            </a:extLst>
          </p:cNvPr>
          <p:cNvSpPr>
            <a:spLocks noGrp="1"/>
          </p:cNvSpPr>
          <p:nvPr/>
        </p:nvSpPr>
        <p:spPr>
          <a:xfrm>
            <a:off x="742950" y="952500"/>
            <a:ext cx="685800" cy="76200"/>
          </a:xfrm>
          <a:prstGeom prst="rect">
            <a:avLst/>
          </a:prstGeom>
          <a:solidFill>
            <a:srgbClr val="22B8B0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ns3:creationId id="{2A5A044F-C3B2-4BB7-A97F-30B0318637C8}"/>
              </a:ext>
            </a:extLst>
          </p:cNvPr>
          <p:cNvSpPr>
            <a:spLocks noGrp="1"/>
          </p:cNvSpPr>
          <p:nvPr/>
        </p:nvSpPr>
        <p:spPr>
          <a:xfrm>
            <a:off x="742950" y="4381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广州工商学院</a:t>
            </a:r>
          </a:p>
        </p:txBody>
      </p:sp>
      <p:sp>
        <p:nvSpPr>
          <p:cNvPr id="5" name="矩形 4">
            <a:extLst>
              <a:ext uri="{FF2B5EF4-FFF2-40B4-BE49-F238E27FC236}">
                <ns3:creationId id="{60681E19-99C6-4CF6-89FA-BD0F3A6CD461}"/>
              </a:ext>
            </a:extLst>
          </p:cNvPr>
          <p:cNvSpPr>
            <a:spLocks noGrp="1"/>
          </p:cNvSpPr>
          <p:nvPr/>
        </p:nvSpPr>
        <p:spPr>
          <a:xfrm>
            <a:off x="742950" y="1352550"/>
            <a:ext cx="5524500" cy="2019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基于人体姿态时序分析的</a:t>
            </a:r>
          </a:p>
          <a:p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健身动作规范性评估与反馈系统</a:t>
            </a:r>
            <a:endParaRPr sz="30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ns3:creationId id="{0D4FE476-A06C-4CC9-BE39-1599CCE35DC7}"/>
              </a:ext>
            </a:extLst>
          </p:cNvPr>
          <p:cNvSpPr>
            <a:spLocks noGrp="1"/>
          </p:cNvSpPr>
          <p:nvPr/>
        </p:nvSpPr>
        <p:spPr>
          <a:xfrm>
            <a:off x="762000" y="36385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rPr>
              <a:t>本科毕业论文（设计）开题答辩</a:t>
            </a:r>
          </a:p>
        </p:txBody>
      </p:sp>
      <p:sp>
        <p:nvSpPr>
          <p:cNvPr id="7" name="矩形 6">
            <a:extLst>
              <a:ext uri="{FF2B5EF4-FFF2-40B4-BE49-F238E27FC236}">
                <ns3:creationId id="{3B5A5B22-8D4C-40B1-8D1B-98B5117F3345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>
                <a:solidFill>
                  <a:srgbClr val="D9E5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E5EA"/>
                </a:solidFill>
                <a:latin typeface="Microsoft YaHei"/>
                <a:ea typeface="Microsoft YaHei"/>
                <a:cs typeface="Microsoft YaHei"/>
              </a:rPr>
              <a:t>汇报人：曾一帆    指导教师：徐永哲 (博士/讲师)</a:t>
            </a:r>
          </a:p>
        </p:txBody>
      </p:sp>
      <p:sp>
        <p:nvSpPr>
          <p:cNvPr id="8" name="矩形 7">
            <a:extLst>
              <a:ext uri="{FF2B5EF4-FFF2-40B4-BE49-F238E27FC236}">
                <ns3:creationId id="{FDC8A68C-5205-4639-A454-8C15E457824B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AFC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FC3CE"/>
                </a:solidFill>
                <a:latin typeface="Microsoft YaHei"/>
                <a:ea typeface="Microsoft YaHei"/>
                <a:cs typeface="Microsoft YaHei"/>
              </a:rPr>
              <a:t>2026年</a:t>
            </a:r>
          </a:p>
        </p:txBody>
      </p:sp>
    </p:spTree>
    <p:extLst>
      <p:ext uri="{BB962C8B-B14F-4D97-AF65-F5344CB8AC3E}">
        <ns4:creationId val="351108186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ns2:creationId id="{AD7C9773-3A16-40E3-A8EF-7E4BB07AF0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ns2:creationId id="{AEBBBEAC-24A0-41A5-9F4F-B093604CAB9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研究背景与核心痛点</a:t>
            </a:r>
          </a:p>
        </p:txBody>
      </p:sp>
      <p:sp>
        <p:nvSpPr>
          <p:cNvPr id="3" name="矩形 2">
            <a:extLst>
              <a:ext uri="{FF2B5EF4-FFF2-40B4-BE49-F238E27FC236}">
                <ns2:creationId id="{A486C6A9-EEC6-4955-9521-8C82B1F8F953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居家健身普及背景下，自练缺乏即时专业指导，易姿态变形甚至引发损伤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329EA95F-16F9-4455-AD9A-5F389AC0AA83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ns2:creationId id="{12621192-2E3B-47BF-8B0A-961CB6406A35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l="19025" r="19025"/>
          <a:stretch>
            <a:fillRect/>
          </a:stretch>
        </p:blipFill>
        <p:spPr>
          <a:xfrm>
            <a:off x="6896100" y="1524000"/>
            <a:ext cx="4762500" cy="4324350"/>
          </a:xfrm>
          <a:prstGeom prst="roundRect">
            <a:avLst>
              <a:gd name="adj" fmla="val 3965"/>
            </a:avLst>
          </a:prstGeom>
        </p:spPr>
      </p:pic>
      <p:sp>
        <p:nvSpPr>
          <p:cNvPr id="7" name="矩形 6">
            <a:extLst>
              <a:ext uri="{FF2B5EF4-FFF2-40B4-BE49-F238E27FC236}">
                <ns2:creationId id="{A0F611D3-A644-4294-B8B5-68F2923501AB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5619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健身动作分析需要攻克三个核心问题</a:t>
            </a:r>
          </a:p>
        </p:txBody>
      </p:sp>
      <p:sp>
        <p:nvSpPr>
          <p:cNvPr id="8" name="矩形 7">
            <a:extLst>
              <a:ext uri="{FF2B5EF4-FFF2-40B4-BE49-F238E27FC236}">
                <ns2:creationId id="{59700FB7-B0AE-4D79-92F1-F122A7F1A22E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95250" cy="70485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ns2:creationId id="{6EC31846-0615-4F1C-853B-62BDCA8DA885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单帧姿态易抖动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5B15D4B0-067B-49ED-A2FE-560500856D0E}"/>
              </a:ext>
            </a:extLst>
          </p:cNvPr>
          <p:cNvSpPr>
            <a:spLocks noGrp="1"/>
          </p:cNvSpPr>
          <p:nvPr/>
        </p:nvSpPr>
        <p:spPr>
          <a:xfrm>
            <a:off x="3238500" y="2362200"/>
            <a:ext cx="7810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普通单目视频关键点噪声大，动作转折难捕捉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CECFF74C-A5C4-4D06-BC11-7D4C85A88A28}"/>
              </a:ext>
            </a:extLst>
          </p:cNvPr>
          <p:cNvSpPr>
            <a:spLocks noGrp="1"/>
          </p:cNvSpPr>
          <p:nvPr/>
        </p:nvSpPr>
        <p:spPr>
          <a:xfrm>
            <a:off x="666750" y="3409950"/>
            <a:ext cx="95250" cy="704850"/>
          </a:xfrm>
          <a:prstGeom prst="rect">
            <a:avLst/>
          </a:prstGeom>
          <a:solidFill>
            <a:srgbClr val="123954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ns2:creationId id="{D258F265-54D3-4E90-AE84-1FF1E382D7EA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rPr>
              <a:t>缺乏可解释反馈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660C485D-A505-43A4-9B5D-7E48167060C6}"/>
              </a:ext>
            </a:extLst>
          </p:cNvPr>
          <p:cNvSpPr>
            <a:spLocks noGrp="1"/>
          </p:cNvSpPr>
          <p:nvPr/>
        </p:nvSpPr>
        <p:spPr>
          <a:xfrm>
            <a:off x="3238500" y="3390900"/>
            <a:ext cx="7810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现有方案多为黑盒总分，难知原因与纠正路径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F0AF8EAE-D804-41DC-9773-44BEE74A1721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95250" cy="704850"/>
          </a:xfrm>
          <a:prstGeom prst="rect">
            <a:avLst/>
          </a:prstGeom>
          <a:solidFill>
            <a:srgbClr val="F2B544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ns2:creationId id="{FFF314BF-2F3D-4DA9-B048-75DD7F9E30C6}"/>
              </a:ext>
            </a:extLst>
          </p:cNvPr>
          <p:cNvSpPr>
            <a:spLocks noGrp="1"/>
          </p:cNvSpPr>
          <p:nvPr/>
        </p:nvSpPr>
        <p:spPr>
          <a:xfrm>
            <a:off x="952500" y="441960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场景边界不明确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14F9D9B1-3387-4879-AEA7-E7E129D14909}"/>
              </a:ext>
            </a:extLst>
          </p:cNvPr>
          <p:cNvSpPr>
            <a:spLocks noGrp="1"/>
          </p:cNvSpPr>
          <p:nvPr/>
        </p:nvSpPr>
        <p:spPr>
          <a:xfrm>
            <a:off x="3238500" y="4419600"/>
            <a:ext cx="7810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易夸大医学诊断，需限定受控侧视与辅助定位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4F76A10A-F608-46B8-ADBE-4A8BAE01D946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5905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目标：构建从视频输入到多维反馈与日志留痕的完整工程闭环</a:t>
            </a:r>
          </a:p>
        </p:txBody>
      </p:sp>
    </p:spTree>
    <p:extLst>
      <p:ext uri="{BB962C8B-B14F-4D97-AF65-F5344CB8AC3E}">
        <ns4:creationId val="2018392109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ns2:creationId id="{5021B921-ED8F-4880-806A-704ABC8071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ns2:creationId id="{4BA202E2-B6C3-4BA7-A041-390A4F08FBD6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相关技术与研究现状</a:t>
            </a:r>
          </a:p>
        </p:txBody>
      </p:sp>
      <p:sp>
        <p:nvSpPr>
          <p:cNvPr id="3" name="矩形 2">
            <a:extLst>
              <a:ext uri="{FF2B5EF4-FFF2-40B4-BE49-F238E27FC236}">
                <ns2:creationId id="{D67C69E7-E53B-4B63-801F-158024DFCC24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姿态估计与动作识别基础成熟，难点在于时序状态机建模与多维可解释反馈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63E72451-91BF-412F-A6C8-F0FC85E9D2EC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ns2:creationId id="{2C802F0E-3718-4D2B-A091-3BE262FCC269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ns2:creationId id="{DE68F265-D9E8-4E33-8B38-C7D548A0274D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1809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姿态估计</a:t>
            </a:r>
          </a:p>
        </p:txBody>
      </p:sp>
      <p:sp>
        <p:nvSpPr>
          <p:cNvPr id="7" name="矩形 6">
            <a:extLst>
              <a:ext uri="{FF2B5EF4-FFF2-40B4-BE49-F238E27FC236}">
                <ns2:creationId id="{EAFAACA9-84B6-4714-B7BC-4AD14D1A12CE}"/>
              </a:ext>
            </a:extLst>
          </p:cNvPr>
          <p:cNvSpPr>
            <a:spLocks noGrp="1"/>
          </p:cNvSpPr>
          <p:nvPr/>
        </p:nvSpPr>
        <p:spPr>
          <a:xfrm>
            <a:off x="2857500" y="1714500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MediaPipe Pose</a:t>
            </a:r>
          </a:p>
        </p:txBody>
      </p:sp>
      <p:sp>
        <p:nvSpPr>
          <p:cNvPr id="8" name="矩形 7">
            <a:extLst>
              <a:ext uri="{FF2B5EF4-FFF2-40B4-BE49-F238E27FC236}">
                <ns2:creationId id="{FC6C4E38-5A52-4A55-8085-2A7851D00B30}"/>
              </a:ext>
            </a:extLst>
          </p:cNvPr>
          <p:cNvSpPr>
            <a:spLocks noGrp="1"/>
          </p:cNvSpPr>
          <p:nvPr/>
        </p:nvSpPr>
        <p:spPr>
          <a:xfrm>
            <a:off x="5334000" y="1714500"/>
            <a:ext cx="5810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轻量提取33个2D骨骼点，算力友好，适合单目视频</a:t>
            </a:r>
          </a:p>
        </p:txBody>
      </p:sp>
      <p:sp>
        <p:nvSpPr>
          <p:cNvPr id="9" name="直接连接符 8">
            <a:extLst>
              <a:ext uri="{FF2B5EF4-FFF2-40B4-BE49-F238E27FC236}">
                <ns2:creationId id="{8AD237EC-CC09-4709-BE74-8663FCAD8C9B}"/>
              </a:ext>
            </a:extLst>
          </p:cNvPr>
          <p:cNvSpPr>
            <a:spLocks noGrp="1"/>
          </p:cNvSpPr>
          <p:nvPr/>
        </p:nvSpPr>
        <p:spPr>
          <a:xfrm>
            <a:off x="781050" y="2667000"/>
            <a:ext cx="103632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10" name="矩形 9">
            <a:extLst>
              <a:ext uri="{FF2B5EF4-FFF2-40B4-BE49-F238E27FC236}">
                <ns2:creationId id="{B2880495-41A2-4D64-822C-1983124095A4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1809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rPr>
              <a:t>时序建模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E52B1E92-926A-47CB-B114-B2012A9360CC}"/>
              </a:ext>
            </a:extLst>
          </p:cNvPr>
          <p:cNvSpPr>
            <a:spLocks noGrp="1"/>
          </p:cNvSpPr>
          <p:nvPr/>
        </p:nvSpPr>
        <p:spPr>
          <a:xfrm>
            <a:off x="2857500" y="3143250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有限状态机 FSM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A9E0BED8-3834-4E05-9CD6-2695D862F2EB}"/>
              </a:ext>
            </a:extLst>
          </p:cNvPr>
          <p:cNvSpPr>
            <a:spLocks noGrp="1"/>
          </p:cNvSpPr>
          <p:nvPr/>
        </p:nvSpPr>
        <p:spPr>
          <a:xfrm>
            <a:off x="5334000" y="3143250"/>
            <a:ext cx="5810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双阈值滞回机制划分阶段，从根本上杜绝重复误计数</a:t>
            </a:r>
          </a:p>
        </p:txBody>
      </p:sp>
      <p:sp>
        <p:nvSpPr>
          <p:cNvPr id="13" name="直接连接符 12">
            <a:extLst>
              <a:ext uri="{FF2B5EF4-FFF2-40B4-BE49-F238E27FC236}">
                <ns2:creationId id="{4CF4DF58-5BF5-458B-BF95-588914398710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103632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14" name="矩形 13">
            <a:extLst>
              <a:ext uri="{FF2B5EF4-FFF2-40B4-BE49-F238E27FC236}">
                <ns2:creationId id="{D2A70F87-6693-4BB6-AABC-08C900C226FB}"/>
              </a:ext>
            </a:extLst>
          </p:cNvPr>
          <p:cNvSpPr>
            <a:spLocks noGrp="1"/>
          </p:cNvSpPr>
          <p:nvPr/>
        </p:nvSpPr>
        <p:spPr>
          <a:xfrm>
            <a:off x="781050" y="4572000"/>
            <a:ext cx="1809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智能反馈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2F2ED6D0-B8C5-4E4B-9BF6-896B25EC3569}"/>
              </a:ext>
            </a:extLst>
          </p:cNvPr>
          <p:cNvSpPr>
            <a:spLocks noGrp="1"/>
          </p:cNvSpPr>
          <p:nvPr/>
        </p:nvSpPr>
        <p:spPr>
          <a:xfrm>
            <a:off x="2857500" y="4572000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规则卡 + LLM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2253D79A-7C1E-4968-B1D8-71A23C70D7C2}"/>
              </a:ext>
            </a:extLst>
          </p:cNvPr>
          <p:cNvSpPr>
            <a:spLocks noGrp="1"/>
          </p:cNvSpPr>
          <p:nvPr/>
        </p:nvSpPr>
        <p:spPr>
          <a:xfrm>
            <a:off x="5334000" y="4572000"/>
            <a:ext cx="5810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四大力学规则卡确定性扣分，大模型生成人性化指导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DFC6B97A-C163-4C86-8E50-F5ECDEB2EFFC}"/>
              </a:ext>
            </a:extLst>
          </p:cNvPr>
          <p:cNvSpPr>
            <a:spLocks noGrp="1"/>
          </p:cNvSpPr>
          <p:nvPr/>
        </p:nvSpPr>
        <p:spPr>
          <a:xfrm>
            <a:off x="762000" y="5886450"/>
            <a:ext cx="10382250" cy="19050"/>
          </a:xfrm>
          <a:prstGeom prst="rect">
            <a:avLst/>
          </a:prstGeom>
          <a:solidFill>
            <a:srgbClr val="22B8B0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ns2:creationId id="{2E67A26D-5DD4-4BFF-8E2B-8C6EF2E6C36C}"/>
              </a:ext>
            </a:extLst>
          </p:cNvPr>
          <p:cNvSpPr>
            <a:spLocks noGrp="1"/>
          </p:cNvSpPr>
          <p:nvPr/>
        </p:nvSpPr>
        <p:spPr>
          <a:xfrm>
            <a:off x="762000" y="60198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研究重点：姿态平滑、阶段状态机与多维度规则评估的工程化闭环</a:t>
            </a:r>
          </a:p>
        </p:txBody>
      </p:sp>
    </p:spTree>
    <p:extLst>
      <p:ext uri="{BB962C8B-B14F-4D97-AF65-F5344CB8AC3E}">
        <ns3:creationId val="1238675274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408C8C3E-ED7F-411C-9FAE-BF81519AC4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ns2:creationId id="{EDD84DB1-A79F-4127-ABD9-919F2BA1653E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研究目标与主要内容</a:t>
            </a:r>
          </a:p>
        </p:txBody>
      </p:sp>
      <p:sp>
        <p:nvSpPr>
          <p:cNvPr id="3" name="矩形 2">
            <a:extLst>
              <a:ext uri="{FF2B5EF4-FFF2-40B4-BE49-F238E27FC236}">
                <ns2:creationId id="{E9E5CE82-6CE6-40F7-A382-702380586BA7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系统面向受控单人侧视场景，输出稳定阶段、防抖计数与多维诊断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50F5406B-43F4-4FE2-B146-FF3C226C60C7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ns2:creationId id="{A7A95D9D-E4AC-470F-BA39-1ADBC81A6A98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ns2:creationId id="{76BA3968-1420-4CE3-BBA8-80374DC967F1}"/>
              </a:ext>
            </a:extLst>
          </p:cNvPr>
          <p:cNvSpPr>
            <a:spLocks noGrp="1"/>
          </p:cNvSpPr>
          <p:nvPr/>
        </p:nvSpPr>
        <p:spPr>
          <a:xfrm>
            <a:off x="895350" y="1809750"/>
            <a:ext cx="1428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直接连接符 6">
            <a:extLst>
              <a:ext uri="{FF2B5EF4-FFF2-40B4-BE49-F238E27FC236}">
                <ns2:creationId id="{E71AA438-672A-4D56-A6C5-7B2AEB67CB34}"/>
              </a:ext>
            </a:extLst>
          </p:cNvPr>
          <p:cNvSpPr>
            <a:spLocks noGrp="1"/>
          </p:cNvSpPr>
          <p:nvPr/>
        </p:nvSpPr>
        <p:spPr>
          <a:xfrm>
            <a:off x="1181100" y="2724150"/>
            <a:ext cx="857250" cy="0"/>
          </a:xfrm>
          <a:prstGeom prst="line">
            <a:avLst/>
          </a:prstGeom>
          <a:noFill/>
          <a:ln w="38100">
            <a:solidFill>
              <a:srgbClr val="22B8B0"/>
            </a:solidFill>
          </a:ln>
        </p:spPr>
      </p:sp>
      <p:sp>
        <p:nvSpPr>
          <p:cNvPr id="8" name="矩形 7">
            <a:extLst>
              <a:ext uri="{FF2B5EF4-FFF2-40B4-BE49-F238E27FC236}">
                <ns2:creationId id="{70786825-5E39-4107-9EF1-445BA07D1B0B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771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有效性筛选</a:t>
            </a:r>
          </a:p>
        </p:txBody>
      </p:sp>
      <p:sp>
        <p:nvSpPr>
          <p:cNvPr id="9" name="矩形 8">
            <a:extLst>
              <a:ext uri="{FF2B5EF4-FFF2-40B4-BE49-F238E27FC236}">
                <ns2:creationId id="{70B28107-4822-4137-9DA6-6A03ACF92DA7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21145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置信度门控过滤</a:t>
            </a:r>
          </a:p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出框遮挡暂不评估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A26E1352-C9AB-4AAD-8347-7D013308C9CF}"/>
              </a:ext>
            </a:extLst>
          </p:cNvPr>
          <p:cNvSpPr>
            <a:spLocks noGrp="1"/>
          </p:cNvSpPr>
          <p:nvPr/>
        </p:nvSpPr>
        <p:spPr>
          <a:xfrm>
            <a:off x="3714750" y="1809750"/>
            <a:ext cx="1428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直接连接符 10">
            <a:extLst>
              <a:ext uri="{FF2B5EF4-FFF2-40B4-BE49-F238E27FC236}">
                <ns2:creationId id="{52A34047-68D1-482E-B2D8-8BF52CDECE3D}"/>
              </a:ext>
            </a:extLst>
          </p:cNvPr>
          <p:cNvSpPr>
            <a:spLocks noGrp="1"/>
          </p:cNvSpPr>
          <p:nvPr/>
        </p:nvSpPr>
        <p:spPr>
          <a:xfrm>
            <a:off x="4000500" y="2724150"/>
            <a:ext cx="857250" cy="0"/>
          </a:xfrm>
          <a:prstGeom prst="line">
            <a:avLst/>
          </a:prstGeom>
          <a:noFill/>
          <a:ln w="38100">
            <a:solidFill>
              <a:srgbClr val="22B8B0"/>
            </a:solidFill>
          </a:ln>
        </p:spPr>
      </p:sp>
      <p:sp>
        <p:nvSpPr>
          <p:cNvPr id="12" name="矩形 11">
            <a:extLst>
              <a:ext uri="{FF2B5EF4-FFF2-40B4-BE49-F238E27FC236}">
                <ns2:creationId id="{95449C64-BCF0-44ED-B8E1-E76433496CAF}"/>
              </a:ext>
            </a:extLst>
          </p:cNvPr>
          <p:cNvSpPr>
            <a:spLocks noGrp="1"/>
          </p:cNvSpPr>
          <p:nvPr/>
        </p:nvSpPr>
        <p:spPr>
          <a:xfrm>
            <a:off x="3543300" y="2971800"/>
            <a:ext cx="1771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姿态时序平滑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2789F849-993A-488A-8618-E019786F8289}"/>
              </a:ext>
            </a:extLst>
          </p:cNvPr>
          <p:cNvSpPr>
            <a:spLocks noGrp="1"/>
          </p:cNvSpPr>
          <p:nvPr/>
        </p:nvSpPr>
        <p:spPr>
          <a:xfrm>
            <a:off x="3371850" y="3638550"/>
            <a:ext cx="21145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加权滤波消抖</a:t>
            </a:r>
          </a:p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躯干骨长尺度归一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A2ADF2C3-AD6A-41F5-AD91-6B051B5AF871}"/>
              </a:ext>
            </a:extLst>
          </p:cNvPr>
          <p:cNvSpPr>
            <a:spLocks noGrp="1"/>
          </p:cNvSpPr>
          <p:nvPr/>
        </p:nvSpPr>
        <p:spPr>
          <a:xfrm>
            <a:off x="6534150" y="1809750"/>
            <a:ext cx="1428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直接连接符 14">
            <a:extLst>
              <a:ext uri="{FF2B5EF4-FFF2-40B4-BE49-F238E27FC236}">
                <ns2:creationId id="{352CCD50-9157-4378-8D6D-39FD3EFD80DC}"/>
              </a:ext>
            </a:extLst>
          </p:cNvPr>
          <p:cNvSpPr>
            <a:spLocks noGrp="1"/>
          </p:cNvSpPr>
          <p:nvPr/>
        </p:nvSpPr>
        <p:spPr>
          <a:xfrm>
            <a:off x="6819900" y="2724150"/>
            <a:ext cx="857250" cy="0"/>
          </a:xfrm>
          <a:prstGeom prst="line">
            <a:avLst/>
          </a:prstGeom>
          <a:noFill/>
          <a:ln w="38100">
            <a:solidFill>
              <a:srgbClr val="22B8B0"/>
            </a:solidFill>
          </a:ln>
        </p:spPr>
      </p:sp>
      <p:sp>
        <p:nvSpPr>
          <p:cNvPr id="16" name="矩形 15">
            <a:extLst>
              <a:ext uri="{FF2B5EF4-FFF2-40B4-BE49-F238E27FC236}">
                <ns2:creationId id="{D1B7ACDA-B3DA-4C1F-AD8F-CBF067BA6C85}"/>
              </a:ext>
            </a:extLst>
          </p:cNvPr>
          <p:cNvSpPr>
            <a:spLocks noGrp="1"/>
          </p:cNvSpPr>
          <p:nvPr/>
        </p:nvSpPr>
        <p:spPr>
          <a:xfrm>
            <a:off x="6362700" y="2971800"/>
            <a:ext cx="1771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阶段状态机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E4D793C5-3BCA-47C4-9101-1C55BC0E1AF0}"/>
              </a:ext>
            </a:extLst>
          </p:cNvPr>
          <p:cNvSpPr>
            <a:spLocks noGrp="1"/>
          </p:cNvSpPr>
          <p:nvPr/>
        </p:nvSpPr>
        <p:spPr>
          <a:xfrm>
            <a:off x="6191250" y="3638550"/>
            <a:ext cx="21145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五阶段时序流转</a:t>
            </a:r>
          </a:p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滞回双阈值防抖计数</a:t>
            </a:r>
          </a:p>
        </p:txBody>
      </p:sp>
      <p:sp>
        <p:nvSpPr>
          <p:cNvPr id="18" name="矩形 17">
            <a:extLst>
              <a:ext uri="{FF2B5EF4-FFF2-40B4-BE49-F238E27FC236}">
                <ns2:creationId id="{C826C106-B372-4981-A145-52BD05334645}"/>
              </a:ext>
            </a:extLst>
          </p:cNvPr>
          <p:cNvSpPr>
            <a:spLocks noGrp="1"/>
          </p:cNvSpPr>
          <p:nvPr/>
        </p:nvSpPr>
        <p:spPr>
          <a:xfrm>
            <a:off x="9353550" y="1809750"/>
            <a:ext cx="1428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40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直接连接符 18">
            <a:extLst>
              <a:ext uri="{FF2B5EF4-FFF2-40B4-BE49-F238E27FC236}">
                <ns2:creationId id="{7287E95E-D577-4F6C-9F9E-06E8C21D0A72}"/>
              </a:ext>
            </a:extLst>
          </p:cNvPr>
          <p:cNvSpPr>
            <a:spLocks noGrp="1"/>
          </p:cNvSpPr>
          <p:nvPr/>
        </p:nvSpPr>
        <p:spPr>
          <a:xfrm>
            <a:off x="9639300" y="2724150"/>
            <a:ext cx="857250" cy="0"/>
          </a:xfrm>
          <a:prstGeom prst="line">
            <a:avLst/>
          </a:prstGeom>
          <a:noFill/>
          <a:ln w="38100">
            <a:solidFill>
              <a:srgbClr val="F2B544"/>
            </a:solidFill>
          </a:ln>
        </p:spPr>
      </p:sp>
      <p:sp>
        <p:nvSpPr>
          <p:cNvPr id="20" name="矩形 19">
            <a:extLst>
              <a:ext uri="{FF2B5EF4-FFF2-40B4-BE49-F238E27FC236}">
                <ns2:creationId id="{623D7A58-1190-4D69-8302-99476D64F891}"/>
              </a:ext>
            </a:extLst>
          </p:cNvPr>
          <p:cNvSpPr>
            <a:spLocks noGrp="1"/>
          </p:cNvSpPr>
          <p:nvPr/>
        </p:nvSpPr>
        <p:spPr>
          <a:xfrm>
            <a:off x="9182100" y="2971800"/>
            <a:ext cx="1771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多维智能反馈</a:t>
            </a:r>
          </a:p>
        </p:txBody>
      </p:sp>
      <p:sp>
        <p:nvSpPr>
          <p:cNvPr id="21" name="矩形 20">
            <a:extLst>
              <a:ext uri="{FF2B5EF4-FFF2-40B4-BE49-F238E27FC236}">
                <ns2:creationId id="{1E94EBBD-0693-4268-B76C-12789292EDAD}"/>
              </a:ext>
            </a:extLst>
          </p:cNvPr>
          <p:cNvSpPr>
            <a:spLocks noGrp="1"/>
          </p:cNvSpPr>
          <p:nvPr/>
        </p:nvSpPr>
        <p:spPr>
          <a:xfrm>
            <a:off x="9010650" y="3638550"/>
            <a:ext cx="21145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四大力学维度判定</a:t>
            </a:r>
          </a:p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原因码与AI私教评语</a:t>
            </a:r>
          </a:p>
        </p:txBody>
      </p:sp>
      <p:sp>
        <p:nvSpPr>
          <p:cNvPr id="22" name="矩形: 圆角 21">
            <a:extLst>
              <a:ext uri="{FF2B5EF4-FFF2-40B4-BE49-F238E27FC236}">
                <ns2:creationId id="{61D28E66-B8CB-4E31-B8FD-641D35CD6E0B}"/>
              </a:ext>
            </a:extLst>
          </p:cNvPr>
          <p:cNvSpPr>
            <a:spLocks noGrp="1"/>
          </p:cNvSpPr>
          <p:nvPr/>
        </p:nvSpPr>
        <p:spPr>
          <a:xfrm>
            <a:off x="4667250" y="5219700"/>
            <a:ext cx="2857500" cy="419100"/>
          </a:xfrm>
          <a:prstGeom prst="roundRect">
            <a:avLst>
              <a:gd name="adj" fmla="val 22727"/>
            </a:avLst>
          </a:prstGeom>
          <a:solidFill>
            <a:srgbClr val="0A1F33"/>
          </a:solidFill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可视化与留痕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BC37F89E-20DD-463D-8FC5-8B1F4C4E80F7}"/>
              </a:ext>
            </a:extLst>
          </p:cNvPr>
          <p:cNvSpPr>
            <a:spLocks noGrp="1"/>
          </p:cNvSpPr>
          <p:nvPr/>
        </p:nvSpPr>
        <p:spPr>
          <a:xfrm>
            <a:off x="2952750" y="5734050"/>
            <a:ext cx="628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00" b="0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实时骨骼图、动态角度弧线、动作切片看板与结构化日志</a:t>
            </a:r>
          </a:p>
        </p:txBody>
      </p:sp>
    </p:spTree>
    <p:extLst>
      <p:ext uri="{BB962C8B-B14F-4D97-AF65-F5344CB8AC3E}">
        <ns3:creationId val="1123332838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ns2:creationId id="{FE7F28E9-F1BB-4451-8BD4-86C300060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ns2:creationId id="{410B11DC-BD64-415C-816C-E66C0C0A9292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系统整体技术路线</a:t>
            </a:r>
          </a:p>
        </p:txBody>
      </p:sp>
      <p:sp>
        <p:nvSpPr>
          <p:cNvPr id="3" name="矩形 2">
            <a:extLst>
              <a:ext uri="{FF2B5EF4-FFF2-40B4-BE49-F238E27FC236}">
                <ns2:creationId id="{0FFEC20A-8459-40F6-9B8F-49DD75C82F55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从视频输入到多维反馈与结构化留痕的端到端数据流水线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7F22CDDE-82AB-43D9-8D76-58DD27C9382B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ns2:creationId id="{B68AF4B3-7B08-4925-963D-3107CD0FA602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AC1439D3-3FFE-4201-99B1-682D2C6D5572}"/>
              </a:ext>
            </a:extLst>
          </p:cNvPr>
          <p:cNvSpPr>
            <a:spLocks noGrp="1"/>
          </p:cNvSpPr>
          <p:nvPr/>
        </p:nvSpPr>
        <p:spPr>
          <a:xfrm>
            <a:off x="514350" y="238125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0A1F33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ns2:creationId id="{16A81F13-A0AD-4B3B-BE8D-4DA27007FF40}"/>
              </a:ext>
            </a:extLst>
          </p:cNvPr>
          <p:cNvSpPr>
            <a:spLocks noGrp="1"/>
          </p:cNvSpPr>
          <p:nvPr/>
        </p:nvSpPr>
        <p:spPr>
          <a:xfrm>
            <a:off x="590550" y="2495550"/>
            <a:ext cx="140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视频输入</a:t>
            </a:r>
          </a:p>
        </p:txBody>
      </p:sp>
      <p:sp>
        <p:nvSpPr>
          <p:cNvPr id="8" name="矩形 7">
            <a:extLst>
              <a:ext uri="{FF2B5EF4-FFF2-40B4-BE49-F238E27FC236}">
                <ns2:creationId id="{E578D34F-D5A7-4FED-B28C-1CBEF0D01C7B}"/>
              </a:ext>
            </a:extLst>
          </p:cNvPr>
          <p:cNvSpPr>
            <a:spLocks noGrp="1"/>
          </p:cNvSpPr>
          <p:nvPr/>
        </p:nvSpPr>
        <p:spPr>
          <a:xfrm>
            <a:off x="590550" y="2952750"/>
            <a:ext cx="140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离线MP4或本地摄像头</a:t>
            </a:r>
          </a:p>
        </p:txBody>
      </p:sp>
      <p:sp>
        <p:nvSpPr>
          <p:cNvPr id="9" name="矩形: 圆角 8">
            <a:extLst>
              <a:ext uri="{FF2B5EF4-FFF2-40B4-BE49-F238E27FC236}">
                <ns2:creationId id="{80A48482-8B0A-42CA-A9D6-38EAB475C20B}"/>
              </a:ext>
            </a:extLst>
          </p:cNvPr>
          <p:cNvSpPr>
            <a:spLocks noGrp="1"/>
          </p:cNvSpPr>
          <p:nvPr/>
        </p:nvSpPr>
        <p:spPr>
          <a:xfrm>
            <a:off x="2419350" y="238125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0A1F33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ns2:creationId id="{8E464D8A-4BF6-4F11-A048-22053AF5DA63}"/>
              </a:ext>
            </a:extLst>
          </p:cNvPr>
          <p:cNvSpPr>
            <a:spLocks noGrp="1"/>
          </p:cNvSpPr>
          <p:nvPr/>
        </p:nvSpPr>
        <p:spPr>
          <a:xfrm>
            <a:off x="2495550" y="2495550"/>
            <a:ext cx="140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有效性门控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1E4E094A-0DD4-412F-BB6F-D2D58AEB3B8F}"/>
              </a:ext>
            </a:extLst>
          </p:cNvPr>
          <p:cNvSpPr>
            <a:spLocks noGrp="1"/>
          </p:cNvSpPr>
          <p:nvPr/>
        </p:nvSpPr>
        <p:spPr>
          <a:xfrm>
            <a:off x="2495550" y="2952750"/>
            <a:ext cx="140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出框与可见度检测</a:t>
            </a:r>
          </a:p>
        </p:txBody>
      </p:sp>
      <p:cxnSp>
        <p:nvCxnSpPr>
          <p:cNvPr id="47" name="直接箭头连接符 46"/>
          <p:cNvCxnSpPr>
            <a:stCxn id="6" idx="3"/>
            <a:endCxn id="9" idx="1"/>
          </p:cNvCxnSpPr>
          <p:nvPr/>
        </p:nvCxnSpPr>
        <p:spPr>
          <a:xfrm>
            <a:off x="2076450" y="2914650"/>
            <a:ext cx="342900" cy="0"/>
          </a:xfrm>
          <a:prstGeom prst="straightConnector1">
            <a:avLst/>
          </a:prstGeom>
          <a:ln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13" name="矩形: 圆角 12">
            <a:extLst>
              <a:ext uri="{FF2B5EF4-FFF2-40B4-BE49-F238E27FC236}">
                <ns2:creationId id="{F6F468D9-7A3B-434F-B662-63FF0156AD89}"/>
              </a:ext>
            </a:extLst>
          </p:cNvPr>
          <p:cNvSpPr>
            <a:spLocks noGrp="1"/>
          </p:cNvSpPr>
          <p:nvPr/>
        </p:nvSpPr>
        <p:spPr>
          <a:xfrm>
            <a:off x="4324350" y="238125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0A1F33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ns2:creationId id="{B2FAA5B8-B7B8-4626-9514-7F4C13D85797}"/>
              </a:ext>
            </a:extLst>
          </p:cNvPr>
          <p:cNvSpPr>
            <a:spLocks noGrp="1"/>
          </p:cNvSpPr>
          <p:nvPr/>
        </p:nvSpPr>
        <p:spPr>
          <a:xfrm>
            <a:off x="4400550" y="2495550"/>
            <a:ext cx="140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MediaPipe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28D6661F-541F-4E9E-9E7E-DA293488264C}"/>
              </a:ext>
            </a:extLst>
          </p:cNvPr>
          <p:cNvSpPr>
            <a:spLocks noGrp="1"/>
          </p:cNvSpPr>
          <p:nvPr/>
        </p:nvSpPr>
        <p:spPr>
          <a:xfrm>
            <a:off x="4400550" y="2952750"/>
            <a:ext cx="140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33点姿态时序提取</a:t>
            </a:r>
          </a:p>
        </p:txBody>
      </p:sp>
      <p:cxnSp>
        <p:nvCxnSpPr>
          <p:cNvPr id="51" name="直接箭头连接符 50"/>
          <p:cNvCxnSpPr>
            <a:stCxn id="9" idx="3"/>
            <a:endCxn id="13" idx="1"/>
          </p:cNvCxnSpPr>
          <p:nvPr/>
        </p:nvCxnSpPr>
        <p:spPr>
          <a:xfrm>
            <a:off x="3981450" y="2914650"/>
            <a:ext cx="342900" cy="0"/>
          </a:xfrm>
          <a:prstGeom prst="straightConnector1">
            <a:avLst/>
          </a:prstGeom>
          <a:ln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17" name="矩形: 圆角 16">
            <a:extLst>
              <a:ext uri="{FF2B5EF4-FFF2-40B4-BE49-F238E27FC236}">
                <ns2:creationId id="{0B3C1A97-1BA4-415E-8758-4EF0F2DCAF69}"/>
              </a:ext>
            </a:extLst>
          </p:cNvPr>
          <p:cNvSpPr>
            <a:spLocks noGrp="1"/>
          </p:cNvSpPr>
          <p:nvPr/>
        </p:nvSpPr>
        <p:spPr>
          <a:xfrm>
            <a:off x="6229350" y="238125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0B8F8A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ns2:creationId id="{C1828354-2319-444A-8D40-462E33378ECD}"/>
              </a:ext>
            </a:extLst>
          </p:cNvPr>
          <p:cNvSpPr>
            <a:spLocks noGrp="1"/>
          </p:cNvSpPr>
          <p:nvPr/>
        </p:nvSpPr>
        <p:spPr>
          <a:xfrm>
            <a:off x="6305550" y="2495550"/>
            <a:ext cx="140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平滑与归一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B67C6BD9-56B3-49EA-93F1-F655AA394A01}"/>
              </a:ext>
            </a:extLst>
          </p:cNvPr>
          <p:cNvSpPr>
            <a:spLocks noGrp="1"/>
          </p:cNvSpPr>
          <p:nvPr/>
        </p:nvSpPr>
        <p:spPr>
          <a:xfrm>
            <a:off x="6305550" y="2952750"/>
            <a:ext cx="140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加权滤波与尺度归一</a:t>
            </a:r>
          </a:p>
        </p:txBody>
      </p:sp>
      <p:cxnSp>
        <p:nvCxnSpPr>
          <p:cNvPr id="55" name="直接箭头连接符 54"/>
          <p:cNvCxnSpPr>
            <a:stCxn id="13" idx="3"/>
            <a:endCxn id="17" idx="1"/>
          </p:cNvCxnSpPr>
          <p:nvPr/>
        </p:nvCxnSpPr>
        <p:spPr>
          <a:xfrm>
            <a:off x="5886450" y="2914650"/>
            <a:ext cx="342900" cy="0"/>
          </a:xfrm>
          <a:prstGeom prst="straightConnector1">
            <a:avLst/>
          </a:prstGeom>
          <a:ln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21" name="矩形: 圆角 20">
            <a:extLst>
              <a:ext uri="{FF2B5EF4-FFF2-40B4-BE49-F238E27FC236}">
                <ns2:creationId id="{AE1ACB79-FE15-4A6A-9162-9B4B4DF9DE43}"/>
              </a:ext>
            </a:extLst>
          </p:cNvPr>
          <p:cNvSpPr>
            <a:spLocks noGrp="1"/>
          </p:cNvSpPr>
          <p:nvPr/>
        </p:nvSpPr>
        <p:spPr>
          <a:xfrm>
            <a:off x="8134350" y="238125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0B8F8A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ns2:creationId id="{614B5E0F-AFA1-466C-91BE-8E8D33F7C20C}"/>
              </a:ext>
            </a:extLst>
          </p:cNvPr>
          <p:cNvSpPr>
            <a:spLocks noGrp="1"/>
          </p:cNvSpPr>
          <p:nvPr/>
        </p:nvSpPr>
        <p:spPr>
          <a:xfrm>
            <a:off x="8210550" y="2495550"/>
            <a:ext cx="140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阶段状态机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3FA6210D-25E4-4EB2-99DC-185DC8B995B2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140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五阶段防抖计数</a:t>
            </a:r>
          </a:p>
        </p:txBody>
      </p:sp>
      <p:cxnSp>
        <p:nvCxnSpPr>
          <p:cNvPr id="59" name="直接箭头连接符 58"/>
          <p:cNvCxnSpPr>
            <a:stCxn id="17" idx="3"/>
            <a:endCxn id="21" idx="1"/>
          </p:cNvCxnSpPr>
          <p:nvPr/>
        </p:nvCxnSpPr>
        <p:spPr>
          <a:xfrm>
            <a:off x="7791450" y="2914650"/>
            <a:ext cx="342900" cy="0"/>
          </a:xfrm>
          <a:prstGeom prst="straightConnector1">
            <a:avLst/>
          </a:prstGeom>
          <a:ln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25" name="矩形: 圆角 24">
            <a:extLst>
              <a:ext uri="{FF2B5EF4-FFF2-40B4-BE49-F238E27FC236}">
                <ns2:creationId id="{A76353E4-F101-4EB9-84D5-011D69B1A24C}"/>
              </a:ext>
            </a:extLst>
          </p:cNvPr>
          <p:cNvSpPr>
            <a:spLocks noGrp="1"/>
          </p:cNvSpPr>
          <p:nvPr/>
        </p:nvSpPr>
        <p:spPr>
          <a:xfrm>
            <a:off x="10039350" y="238125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F2B544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ns2:creationId id="{3CF43289-70A8-44BC-8CAE-24E719898493}"/>
              </a:ext>
            </a:extLst>
          </p:cNvPr>
          <p:cNvSpPr>
            <a:spLocks noGrp="1"/>
          </p:cNvSpPr>
          <p:nvPr/>
        </p:nvSpPr>
        <p:spPr>
          <a:xfrm>
            <a:off x="10115550" y="2495550"/>
            <a:ext cx="140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多维反馈</a:t>
            </a:r>
          </a:p>
        </p:txBody>
      </p:sp>
      <p:sp>
        <p:nvSpPr>
          <p:cNvPr id="27" name="矩形 26">
            <a:extLst>
              <a:ext uri="{FF2B5EF4-FFF2-40B4-BE49-F238E27FC236}">
                <ns2:creationId id="{31298DBD-ABC9-4E57-887A-E20E12EF8D86}"/>
              </a:ext>
            </a:extLst>
          </p:cNvPr>
          <p:cNvSpPr>
            <a:spLocks noGrp="1"/>
          </p:cNvSpPr>
          <p:nvPr/>
        </p:nvSpPr>
        <p:spPr>
          <a:xfrm>
            <a:off x="10115550" y="2952750"/>
            <a:ext cx="140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原因码与AI私教</a:t>
            </a:r>
          </a:p>
        </p:txBody>
      </p:sp>
      <p:cxnSp>
        <p:nvCxnSpPr>
          <p:cNvPr id="63" name="直接箭头连接符 62"/>
          <p:cNvCxnSpPr>
            <a:stCxn id="21" idx="3"/>
            <a:endCxn id="25" idx="1"/>
          </p:cNvCxnSpPr>
          <p:nvPr/>
        </p:nvCxnSpPr>
        <p:spPr>
          <a:xfrm>
            <a:off x="9696450" y="2914650"/>
            <a:ext cx="342900" cy="0"/>
          </a:xfrm>
          <a:prstGeom prst="straightConnector1">
            <a:avLst/>
          </a:prstGeom>
          <a:ln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29" name="直接连接符 28">
            <a:extLst>
              <a:ext uri="{FF2B5EF4-FFF2-40B4-BE49-F238E27FC236}">
                <ns2:creationId id="{A364605A-46C4-413D-92D8-CF50D947F3FD}"/>
              </a:ext>
            </a:extLst>
          </p:cNvPr>
          <p:cNvSpPr>
            <a:spLocks noGrp="1"/>
          </p:cNvSpPr>
          <p:nvPr/>
        </p:nvSpPr>
        <p:spPr>
          <a:xfrm>
            <a:off x="1238250" y="4191000"/>
            <a:ext cx="97155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30" name="矩形 29">
            <a:extLst>
              <a:ext uri="{FF2B5EF4-FFF2-40B4-BE49-F238E27FC236}">
                <ns2:creationId id="{3E42C710-DC6E-47AE-ADA0-462472CB940B}"/>
              </a:ext>
            </a:extLst>
          </p:cNvPr>
          <p:cNvSpPr>
            <a:spLocks noGrp="1"/>
          </p:cNvSpPr>
          <p:nvPr/>
        </p:nvSpPr>
        <p:spPr>
          <a:xfrm>
            <a:off x="2038350" y="45148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7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规则引擎</a:t>
            </a:r>
          </a:p>
        </p:txBody>
      </p:sp>
      <p:sp>
        <p:nvSpPr>
          <p:cNvPr id="31" name="矩形 30">
            <a:extLst>
              <a:ext uri="{FF2B5EF4-FFF2-40B4-BE49-F238E27FC236}">
                <ns2:creationId id="{D344FC4C-0BFB-4ABB-9189-B11EDA4DB460}"/>
              </a:ext>
            </a:extLst>
          </p:cNvPr>
          <p:cNvSpPr>
            <a:spLocks noGrp="1"/>
          </p:cNvSpPr>
          <p:nvPr/>
        </p:nvSpPr>
        <p:spPr>
          <a:xfrm>
            <a:off x="1447800" y="5010150"/>
            <a:ext cx="31813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深度、损伤、节奏、平稳性四大力学维度</a:t>
            </a:r>
          </a:p>
        </p:txBody>
      </p:sp>
      <p:sp>
        <p:nvSpPr>
          <p:cNvPr id="32" name="矩形 31">
            <a:extLst>
              <a:ext uri="{FF2B5EF4-FFF2-40B4-BE49-F238E27FC236}">
                <ns2:creationId id="{F534CF65-263E-4CB4-9221-03A2538F4461}"/>
              </a:ext>
            </a:extLst>
          </p:cNvPr>
          <p:cNvSpPr>
            <a:spLocks noGrp="1"/>
          </p:cNvSpPr>
          <p:nvPr/>
        </p:nvSpPr>
        <p:spPr>
          <a:xfrm>
            <a:off x="8058150" y="45148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72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结果留痕</a:t>
            </a:r>
          </a:p>
        </p:txBody>
      </p:sp>
      <p:sp>
        <p:nvSpPr>
          <p:cNvPr id="33" name="矩形 32">
            <a:extLst>
              <a:ext uri="{FF2B5EF4-FFF2-40B4-BE49-F238E27FC236}">
                <ns2:creationId id="{0B4CB834-79F5-4026-939C-E3790A274703}"/>
              </a:ext>
            </a:extLst>
          </p:cNvPr>
          <p:cNvSpPr>
            <a:spLocks noGrp="1"/>
          </p:cNvSpPr>
          <p:nvPr/>
        </p:nvSpPr>
        <p:spPr>
          <a:xfrm>
            <a:off x="7448550" y="5010150"/>
            <a:ext cx="32194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JSON/CSV日志导出与时间戳下钻回溯</a:t>
            </a:r>
          </a:p>
        </p:txBody>
      </p:sp>
      <p:sp>
        <p:nvSpPr>
          <p:cNvPr id="34" name="矩形 33">
            <a:extLst>
              <a:ext uri="{FF2B5EF4-FFF2-40B4-BE49-F238E27FC236}">
                <ns2:creationId id="{38C1CB33-E14B-4A16-B88E-200F806BA360}"/>
              </a:ext>
            </a:extLst>
          </p:cNvPr>
          <p:cNvSpPr>
            <a:spLocks noGrp="1"/>
          </p:cNvSpPr>
          <p:nvPr/>
        </p:nvSpPr>
        <p:spPr>
          <a:xfrm>
            <a:off x="2933700" y="1676400"/>
            <a:ext cx="2914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前端交互已打通</a:t>
            </a:r>
          </a:p>
        </p:txBody>
      </p:sp>
      <p:sp>
        <p:nvSpPr>
          <p:cNvPr id="35" name="矩形 34">
            <a:extLst>
              <a:ext uri="{FF2B5EF4-FFF2-40B4-BE49-F238E27FC236}">
                <ns2:creationId id="{220B00E0-96B1-4527-80AF-369567E094CF}"/>
              </a:ext>
            </a:extLst>
          </p:cNvPr>
          <p:cNvSpPr>
            <a:spLocks noGrp="1"/>
          </p:cNvSpPr>
          <p:nvPr/>
        </p:nvSpPr>
        <p:spPr>
          <a:xfrm>
            <a:off x="6800850" y="1676400"/>
            <a:ext cx="2914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扩展多人底座</a:t>
            </a:r>
          </a:p>
        </p:txBody>
      </p:sp>
    </p:spTree>
    <p:extLst>
      <p:ext uri="{BB962C8B-B14F-4D97-AF65-F5344CB8AC3E}">
        <ns3:creationId val="891544955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ns2:creationId id="{EA3FFA27-F924-4C1E-9D5D-9D730F1E1E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ns2:creationId id="{65A047E7-773B-42EE-9AD4-640F757BE5B3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姿态时序提取与有效性筛选</a:t>
            </a:r>
          </a:p>
        </p:txBody>
      </p:sp>
      <p:sp>
        <p:nvSpPr>
          <p:cNvPr id="3" name="矩形 2">
            <a:extLst>
              <a:ext uri="{FF2B5EF4-FFF2-40B4-BE49-F238E27FC236}">
                <ns2:creationId id="{77A5D7EB-B98B-41BA-A94A-BB0450904C51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前端筑牢数据防线，消除关键点高频微颤与前后站位距离干扰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2BDED82A-2137-42BD-B3DB-C736453EBAD7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ns2:creationId id="{438842B2-0550-45BB-8283-28F93EA28AD3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00750" y="2037159"/>
            <a:ext cx="5524500" cy="3107531"/>
          </a:xfrm>
          <a:prstGeom prst="roundRect">
            <a:avLst>
              <a:gd name="adj" fmla="val 3721"/>
            </a:avLst>
          </a:prstGeom>
        </p:spPr>
      </p:pic>
      <p:sp>
        <p:nvSpPr>
          <p:cNvPr id="7" name="矩形 6">
            <a:extLst>
              <a:ext uri="{FF2B5EF4-FFF2-40B4-BE49-F238E27FC236}">
                <ns2:creationId id="{2DDEB635-F535-48B0-BA1B-16F32E087BAF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8" name="矩形 7">
            <a:extLst>
              <a:ext uri="{FF2B5EF4-FFF2-40B4-BE49-F238E27FC236}">
                <ns2:creationId id="{E849FDA1-EE3F-47E2-97B4-C434614B73DC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4333875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38100" rIns="38100" bIns="3810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可见度门控：置信度低于0.5主动挂起</a:t>
            </a:r>
          </a:p>
          <a:p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尺度归一化：以躯干长度消除站位远近影响</a:t>
            </a:r>
          </a:p>
          <a:p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时序滤波：加权移动平均窗口平滑高频抖动</a:t>
            </a:r>
          </a:p>
          <a:p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屏幕几何特征：以二维投影角度作为分析依据</a:t>
            </a:r>
          </a:p>
        </p:txBody>
      </p:sp>
      <p:sp>
        <p:nvSpPr>
          <p:cNvPr id="9" name="矩形 8">
            <a:extLst>
              <a:ext uri="{FF2B5EF4-FFF2-40B4-BE49-F238E27FC236}">
                <ns2:creationId id="{A3CB309B-A47A-4937-A4D9-2DFF172C51E9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4572000" cy="914400"/>
          </a:xfrm>
          <a:prstGeom prst="rect">
            <a:avLst/>
          </a:prstGeom>
          <a:solidFill>
            <a:srgbClr val="FFF5DE"/>
          </a:solidFill>
          <a:ln w="19050">
            <a:solidFill>
              <a:srgbClr val="F2B544"/>
            </a:solidFill>
          </a:ln>
        </p:spPr>
      </p:sp>
      <p:sp>
        <p:nvSpPr>
          <p:cNvPr id="10" name="矩形 9">
            <a:extLst>
              <a:ext uri="{FF2B5EF4-FFF2-40B4-BE49-F238E27FC236}">
                <ns2:creationId id="{D781CB7A-5FB2-4FCD-B10E-2ABB35CA4202}"/>
              </a:ext>
            </a:extLst>
          </p:cNvPr>
          <p:cNvSpPr>
            <a:spLocks noGrp="1"/>
          </p:cNvSpPr>
          <p:nvPr/>
        </p:nvSpPr>
        <p:spPr>
          <a:xfrm>
            <a:off x="914400" y="4876800"/>
            <a:ext cx="1314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00" b="1">
                <a:solidFill>
                  <a:srgbClr val="8A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A5B00"/>
                </a:solidFill>
                <a:latin typeface="Microsoft YaHei"/>
                <a:ea typeface="Microsoft YaHei"/>
                <a:cs typeface="Microsoft YaHei"/>
              </a:rPr>
              <a:t>防守性设计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988A9A8A-A7C2-4EAE-9253-3A9EB3B3621C}"/>
              </a:ext>
            </a:extLst>
          </p:cNvPr>
          <p:cNvSpPr>
            <a:spLocks noGrp="1"/>
          </p:cNvSpPr>
          <p:nvPr/>
        </p:nvSpPr>
        <p:spPr>
          <a:xfrm>
            <a:off x="914400" y="5219700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3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单目视频不作三维力学绝对测量，只提取侧视几何相对特征，严格抑制出框异常结论。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ABC707F6-9AFA-48AE-9E28-76FE336C5B32}"/>
              </a:ext>
            </a:extLst>
          </p:cNvPr>
          <p:cNvSpPr>
            <a:spLocks noGrp="1"/>
          </p:cNvSpPr>
          <p:nvPr/>
        </p:nvSpPr>
        <p:spPr>
          <a:xfrm>
            <a:off x="7543800" y="58293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关键点平滑与角度计算示意</a:t>
            </a:r>
          </a:p>
        </p:txBody>
      </p:sp>
    </p:spTree>
    <p:extLst>
      <p:ext uri="{BB962C8B-B14F-4D97-AF65-F5344CB8AC3E}">
        <ns4:creationId val="477941719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ns2:creationId id="{1CC0EDDE-55FB-4231-AFBB-7E53FA7DCB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ns2:creationId id="{E0465E42-B44B-4246-B947-6EC982A4C3E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深蹲阶段状态机与防抖计数</a:t>
            </a:r>
          </a:p>
        </p:txBody>
      </p:sp>
      <p:sp>
        <p:nvSpPr>
          <p:cNvPr id="3" name="矩形 2">
            <a:extLst>
              <a:ext uri="{FF2B5EF4-FFF2-40B4-BE49-F238E27FC236}">
                <ns2:creationId id="{CA1CF4A8-098B-4F61-BD05-C4116D81D67F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五阶段有限状态机结合滞回机制，彻底解决动作折返与颤抖误计数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C5F3B0D6-F458-4014-8DFE-8F73E962CDDE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ns2:creationId id="{AFB55000-084C-478B-81C3-BA11D1930C7A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B7557AF6-6B59-4D0F-A795-E08EFCF40E6D}"/>
              </a:ext>
            </a:extLst>
          </p:cNvPr>
          <p:cNvSpPr>
            <a:spLocks noGrp="1"/>
          </p:cNvSpPr>
          <p:nvPr/>
        </p:nvSpPr>
        <p:spPr>
          <a:xfrm>
            <a:off x="857250" y="1924050"/>
            <a:ext cx="2571750" cy="1257300"/>
          </a:xfrm>
          <a:prstGeom prst="roundRect">
            <a:avLst>
              <a:gd name="adj" fmla="val 10606"/>
            </a:avLst>
          </a:prstGeom>
          <a:solidFill>
            <a:srgbClr val="E7F5F3"/>
          </a:solidFill>
          <a:ln w="19050">
            <a:solidFill>
              <a:srgbClr val="0B8F8A"/>
            </a:solidFill>
          </a:ln>
        </p:spPr>
      </p:sp>
      <p:sp>
        <p:nvSpPr>
          <p:cNvPr id="7" name="矩形: 圆角 6">
            <a:extLst>
              <a:ext uri="{FF2B5EF4-FFF2-40B4-BE49-F238E27FC236}">
                <ns2:creationId id="{BEB8502B-72A8-40E3-BB7A-B9D62E7F5F87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2571750" cy="1257300"/>
          </a:xfrm>
          <a:prstGeom prst="roundRect">
            <a:avLst>
              <a:gd name="adj" fmla="val 10606"/>
            </a:avLst>
          </a:prstGeom>
          <a:solidFill>
            <a:srgbClr val="EEF3F5"/>
          </a:solidFill>
          <a:ln w="19050">
            <a:solidFill>
              <a:srgbClr val="123954"/>
            </a:solidFill>
          </a:ln>
        </p:spPr>
      </p:sp>
      <p:sp>
        <p:nvSpPr>
          <p:cNvPr id="8" name="矩形: 圆角 7">
            <a:extLst>
              <a:ext uri="{FF2B5EF4-FFF2-40B4-BE49-F238E27FC236}">
                <ns2:creationId id="{AF1F29AC-CB71-43A3-BF32-D91DBDD99C31}"/>
              </a:ext>
            </a:extLst>
          </p:cNvPr>
          <p:cNvSpPr>
            <a:spLocks noGrp="1"/>
          </p:cNvSpPr>
          <p:nvPr/>
        </p:nvSpPr>
        <p:spPr>
          <a:xfrm>
            <a:off x="4857750" y="2800350"/>
            <a:ext cx="2667000" cy="1371600"/>
          </a:xfrm>
          <a:prstGeom prst="roundRect">
            <a:avLst>
              <a:gd name="adj" fmla="val 9722"/>
            </a:avLst>
          </a:prstGeom>
          <a:solidFill>
            <a:srgbClr val="0A1F33"/>
          </a:solidFill>
          <a:ln w="0">
            <a:noFill/>
          </a:ln>
        </p:spPr>
      </p:sp>
      <p:sp>
        <p:nvSpPr>
          <p:cNvPr id="9" name="矩形: 圆角 8">
            <a:extLst>
              <a:ext uri="{FF2B5EF4-FFF2-40B4-BE49-F238E27FC236}">
                <ns2:creationId id="{A8D5119D-A1E8-4157-BF75-DBCA637E2E6C}"/>
              </a:ext>
            </a:extLst>
          </p:cNvPr>
          <p:cNvSpPr>
            <a:spLocks noGrp="1"/>
          </p:cNvSpPr>
          <p:nvPr/>
        </p:nvSpPr>
        <p:spPr>
          <a:xfrm>
            <a:off x="8991600" y="2800350"/>
            <a:ext cx="2266950" cy="1371600"/>
          </a:xfrm>
          <a:prstGeom prst="roundRect">
            <a:avLst>
              <a:gd name="adj" fmla="val 9722"/>
            </a:avLst>
          </a:prstGeom>
          <a:solidFill>
            <a:srgbClr val="F2B544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ns2:creationId id="{E8011196-34A0-44B6-AF5B-E3C6F6B72A58}"/>
              </a:ext>
            </a:extLst>
          </p:cNvPr>
          <p:cNvSpPr>
            <a:spLocks noGrp="1"/>
          </p:cNvSpPr>
          <p:nvPr/>
        </p:nvSpPr>
        <p:spPr>
          <a:xfrm>
            <a:off x="1066800" y="2095500"/>
            <a:ext cx="2152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8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准备阶段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DAB04876-F1C8-4F2A-9044-B6197B86FAE0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2152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直立待机基准标定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06F4D40C-2D5B-4899-9851-81DA6F1C2203}"/>
              </a:ext>
            </a:extLst>
          </p:cNvPr>
          <p:cNvSpPr>
            <a:spLocks noGrp="1"/>
          </p:cNvSpPr>
          <p:nvPr/>
        </p:nvSpPr>
        <p:spPr>
          <a:xfrm>
            <a:off x="1066800" y="3905250"/>
            <a:ext cx="2152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8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下蹲阶段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F633E27E-43C9-480A-A4C1-9A2EE1358A4A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2152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膝关节角度持续折叠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02196E0C-AB4A-430A-936F-0365C4363B77}"/>
              </a:ext>
            </a:extLst>
          </p:cNvPr>
          <p:cNvSpPr>
            <a:spLocks noGrp="1"/>
          </p:cNvSpPr>
          <p:nvPr/>
        </p:nvSpPr>
        <p:spPr>
          <a:xfrm>
            <a:off x="5048250" y="30099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最低点拐点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7C71A21F-A97F-42F9-847A-1FC832A690CD}"/>
              </a:ext>
            </a:extLst>
          </p:cNvPr>
          <p:cNvSpPr>
            <a:spLocks noGrp="1"/>
          </p:cNvSpPr>
          <p:nvPr/>
        </p:nvSpPr>
        <p:spPr>
          <a:xfrm>
            <a:off x="5067300" y="3562350"/>
            <a:ext cx="2247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0">
                <a:solidFill>
                  <a:srgbClr val="D9E5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9E5EA"/>
                </a:solidFill>
                <a:latin typeface="Microsoft YaHei"/>
                <a:ea typeface="Microsoft YaHei"/>
                <a:cs typeface="Microsoft YaHei"/>
              </a:rPr>
              <a:t>捕捉最大下蹲深度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1D059FB8-AF75-4FAE-9CC0-DFBACEF69F31}"/>
              </a:ext>
            </a:extLst>
          </p:cNvPr>
          <p:cNvSpPr>
            <a:spLocks noGrp="1"/>
          </p:cNvSpPr>
          <p:nvPr/>
        </p:nvSpPr>
        <p:spPr>
          <a:xfrm>
            <a:off x="9144000" y="3067050"/>
            <a:ext cx="19621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9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起身阶段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59E09659-1161-4D7A-A0E3-17887748B1F2}"/>
              </a:ext>
            </a:extLst>
          </p:cNvPr>
          <p:cNvSpPr>
            <a:spLocks noGrp="1"/>
          </p:cNvSpPr>
          <p:nvPr/>
        </p:nvSpPr>
        <p:spPr>
          <a:xfrm>
            <a:off x="9144000" y="3619500"/>
            <a:ext cx="1962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350" b="0">
                <a:solidFill>
                  <a:srgbClr val="785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85100"/>
                </a:solidFill>
                <a:latin typeface="Microsoft YaHei"/>
                <a:ea typeface="Microsoft YaHei"/>
                <a:cs typeface="Microsoft YaHei"/>
              </a:rPr>
              <a:t>关节回弹伸展恢复</a:t>
            </a:r>
          </a:p>
        </p:txBody>
      </p:sp>
      <p:cxnSp>
        <p:nvCxnSpPr>
          <p:cNvPr id="39" name="直接箭头连接符 38"/>
          <p:cNvCxnSpPr>
            <a:stCxn id="6" idx="3"/>
            <a:endCxn id="8" idx="1"/>
          </p:cNvCxnSpPr>
          <p:nvPr/>
        </p:nvCxnSpPr>
        <p:spPr>
          <a:xfrm>
            <a:off x="3429000" y="2552700"/>
            <a:ext cx="1428750" cy="933450"/>
          </a:xfrm>
          <a:prstGeom prst="straightConnector1">
            <a:avLst/>
          </a:prstGeom>
          <a:ln w="19050">
            <a:solidFill>
              <a:srgbClr val="0B8F8A"/>
            </a:solidFill>
            <a:prstDash val="solid"/>
            <a:tailEnd type="triangle" w="sm" len="sm"/>
          </a:ln>
        </p:spPr>
      </p:cxnSp>
      <p:cxnSp>
        <p:nvCxnSpPr>
          <p:cNvPr id="40" name="直接箭头连接符 39"/>
          <p:cNvCxnSpPr>
            <a:stCxn id="7" idx="3"/>
            <a:endCxn id="8" idx="1"/>
          </p:cNvCxnSpPr>
          <p:nvPr/>
        </p:nvCxnSpPr>
        <p:spPr>
          <a:xfrm flipV="1">
            <a:off x="3429000" y="3486150"/>
            <a:ext cx="1428750" cy="876300"/>
          </a:xfrm>
          <a:prstGeom prst="straightConnector1">
            <a:avLst/>
          </a:prstGeom>
          <a:ln w="19050">
            <a:solidFill>
              <a:srgbClr val="123954"/>
            </a:solidFill>
            <a:prstDash val="solid"/>
            <a:tailEnd type="triangle" w="sm" len="sm"/>
          </a:ln>
        </p:spPr>
      </p:cxnSp>
      <p:cxnSp>
        <p:nvCxnSpPr>
          <p:cNvPr id="41" name="直接箭头连接符 40"/>
          <p:cNvCxnSpPr>
            <a:stCxn id="8" idx="3"/>
            <a:endCxn id="9" idx="1"/>
          </p:cNvCxnSpPr>
          <p:nvPr/>
        </p:nvCxnSpPr>
        <p:spPr>
          <a:xfrm>
            <a:off x="7524750" y="3486150"/>
            <a:ext cx="1466850" cy="0"/>
          </a:xfrm>
          <a:prstGeom prst="straightConnector1">
            <a:avLst/>
          </a:prstGeom>
          <a:ln w="28575">
            <a:solidFill>
              <a:srgbClr val="F2B544"/>
            </a:solidFill>
            <a:prstDash val="solid"/>
            <a:tailEnd type="triangle" w="med" len="med"/>
          </a:ln>
        </p:spPr>
      </p:cxnSp>
      <p:sp>
        <p:nvSpPr>
          <p:cNvPr id="21" name="矩形: 圆角 20">
            <a:extLst>
              <a:ext uri="{FF2B5EF4-FFF2-40B4-BE49-F238E27FC236}">
                <ns2:creationId id="{7E54FB55-D8FE-43B5-9F05-313D158A8F48}"/>
              </a:ext>
            </a:extLst>
          </p:cNvPr>
          <p:cNvSpPr>
            <a:spLocks noGrp="1"/>
          </p:cNvSpPr>
          <p:nvPr/>
        </p:nvSpPr>
        <p:spPr>
          <a:xfrm>
            <a:off x="1600200" y="5638800"/>
            <a:ext cx="8858250" cy="438150"/>
          </a:xfrm>
          <a:prstGeom prst="roundRect">
            <a:avLst>
              <a:gd name="adj" fmla="val 17391"/>
            </a:avLst>
          </a:prstGeom>
          <a:solidFill>
            <a:srgbClr val="EEF3F5"/>
          </a:solidFill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ENTER_THRESH 140°     BOTTOM_THRESH 90°     MIN_FRAMES 3     HYSTERESIS 15°</a:t>
            </a:r>
          </a:p>
        </p:txBody>
      </p:sp>
    </p:spTree>
    <p:extLst>
      <p:ext uri="{BB962C8B-B14F-4D97-AF65-F5344CB8AC3E}">
        <ns3:creationId val="1378384374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ns2:creationId id="{0ABA70F0-F0E2-4DF0-9D68-D58472E0A1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ns2:creationId id="{CCC78E63-56E9-4BE8-9421-FFEE3BB9C18F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多维度动作规范性评估体系</a:t>
            </a:r>
          </a:p>
        </p:txBody>
      </p:sp>
      <p:sp>
        <p:nvSpPr>
          <p:cNvPr id="3" name="矩形 2">
            <a:extLst>
              <a:ext uri="{FF2B5EF4-FFF2-40B4-BE49-F238E27FC236}">
                <ns2:creationId id="{1AAF46E7-D772-448B-8EE4-801A506F3FD3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从单一深度扩展为四大生物力学维度，构建全面立体的动作诊断画像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D61BCC62-A30E-487A-A0D1-907D1D1AFE9C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ns2:creationId id="{CC714371-58EB-4CC0-91FB-08CB5EB76F4C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800" y="1695450"/>
            <a:ext cx="4953000" cy="3714750"/>
          </a:xfrm>
          <a:prstGeom prst="roundRect">
            <a:avLst>
              <a:gd name="adj" fmla="val 3590"/>
            </a:avLst>
          </a:prstGeom>
        </p:spPr>
      </p:pic>
      <p:sp>
        <p:nvSpPr>
          <p:cNvPr id="7" name="矩形 6">
            <a:extLst>
              <a:ext uri="{FF2B5EF4-FFF2-40B4-BE49-F238E27FC236}">
                <ns2:creationId id="{F0096B82-6D63-478A-A375-59F3F77C646C}"/>
              </a:ext>
            </a:extLst>
          </p:cNvPr>
          <p:cNvSpPr>
            <a:spLocks noGrp="1"/>
          </p:cNvSpPr>
          <p:nvPr/>
        </p:nvSpPr>
        <p:spPr>
          <a:xfrm>
            <a:off x="6248400" y="17145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20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维度一与维度二</a:t>
            </a:r>
          </a:p>
        </p:txBody>
      </p:sp>
      <p:sp>
        <p:nvSpPr>
          <p:cNvPr id="8" name="矩形 7">
            <a:extLst>
              <a:ext uri="{FF2B5EF4-FFF2-40B4-BE49-F238E27FC236}">
                <ns2:creationId id="{D0EF72F7-FC1C-4542-8C6B-C716B675244A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4572000" cy="163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38100" rIns="38100" bIns="3810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维度一：下蹲深度与幅度（膝关节折叠角代理深度）</a:t>
            </a:r>
          </a:p>
          <a:p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维度二：运动损伤风险（膝过脚尖、躯干过度前倾与脊柱剪切）</a:t>
            </a:r>
          </a:p>
          <a:p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矩形 8">
            <a:extLst>
              <a:ext uri="{FF2B5EF4-FFF2-40B4-BE49-F238E27FC236}">
                <ns2:creationId id="{2CB9E5E7-1E4E-44F7-8EA2-4A98BF993724}"/>
              </a:ext>
            </a:extLst>
          </p:cNvPr>
          <p:cNvSpPr>
            <a:spLocks noGrp="1"/>
          </p:cNvSpPr>
          <p:nvPr/>
        </p:nvSpPr>
        <p:spPr>
          <a:xfrm>
            <a:off x="6248400" y="4191000"/>
            <a:ext cx="2667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202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维度三与维度四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2DB3907A-D9AF-4DC4-B7C4-F7D7AB0433BB}"/>
              </a:ext>
            </a:extLst>
          </p:cNvPr>
          <p:cNvSpPr>
            <a:spLocks noGrp="1"/>
          </p:cNvSpPr>
          <p:nvPr/>
        </p:nvSpPr>
        <p:spPr>
          <a:xfrm>
            <a:off x="6305550" y="4762500"/>
            <a:ext cx="48387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维度三：动作节奏平衡（离心/向心时长比例）    维度四：躯干平稳性分析（重心横向偏移与轨迹方差）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B5B12775-F27B-45FD-9C0F-DC3985E1F6AA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425" b="0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rPr>
              <a:t>各维度指标均绑定生物力学合理阈值区间，输出精确扣分项与问题标签</a:t>
            </a:r>
          </a:p>
        </p:txBody>
      </p:sp>
    </p:spTree>
    <p:extLst>
      <p:ext uri="{BB962C8B-B14F-4D97-AF65-F5344CB8AC3E}">
        <ns4:creationId val="516619680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ns2:creationId id="{10E5EB57-3477-48D3-86D4-B6CDA1FC92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ns2:creationId id="{7F3DB169-98D1-48DB-A263-20038AC0E69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智能反馈生成与结果留痕</a:t>
            </a:r>
          </a:p>
        </p:txBody>
      </p:sp>
      <p:sp>
        <p:nvSpPr>
          <p:cNvPr id="3" name="矩形 2">
            <a:extLst>
              <a:ext uri="{FF2B5EF4-FFF2-40B4-BE49-F238E27FC236}">
                <ns2:creationId id="{EAA28B84-04A4-4C95-BE0F-03431E1F7521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确定性力学原因码结合大模型私教，形成“时间戳—指标—建议”三位一体留痕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11F6093E-1A2F-4277-8C86-3BDE20582F01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ns2:creationId id="{E91AC8D0-431C-44B0-A4DF-FC03955B4621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ns2:creationId id="{2E7E30D5-3144-4526-93A1-84F80F9BB78D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确定性力学反馈</a:t>
            </a:r>
          </a:p>
        </p:txBody>
      </p:sp>
      <p:sp>
        <p:nvSpPr>
          <p:cNvPr id="7" name="矩形 6">
            <a:extLst>
              <a:ext uri="{FF2B5EF4-FFF2-40B4-BE49-F238E27FC236}">
                <ns2:creationId id="{0E4BF550-BD62-4A32-8955-EDD89864E61F}"/>
              </a:ext>
            </a:extLst>
          </p:cNvPr>
          <p:cNvSpPr>
            <a:spLocks noGrp="1"/>
          </p:cNvSpPr>
          <p:nvPr/>
        </p:nvSpPr>
        <p:spPr>
          <a:xfrm>
            <a:off x="1047750" y="2228850"/>
            <a:ext cx="3905250" cy="2419350"/>
          </a:xfrm>
          <a:prstGeom prst="rect">
            <a:avLst/>
          </a:prstGeom>
          <a:solidFill>
            <a:srgbClr val="EEF3F5"/>
          </a:solidFill>
          <a:ln w="9525">
            <a:solidFill>
              <a:srgbClr val="CBD7DD"/>
            </a:solidFill>
          </a:ln>
        </p:spPr>
      </p:sp>
      <p:sp>
        <p:nvSpPr>
          <p:cNvPr id="8" name="梯形 7">
            <a:extLst>
              <a:ext uri="{FF2B5EF4-FFF2-40B4-BE49-F238E27FC236}">
                <ns2:creationId id="{829B0062-035F-43B6-8A23-43519F104447}"/>
              </a:ext>
            </a:extLst>
          </p:cNvPr>
          <p:cNvSpPr>
            <a:spLocks noGrp="1"/>
          </p:cNvSpPr>
          <p:nvPr/>
        </p:nvSpPr>
        <p:spPr>
          <a:xfrm>
            <a:off x="1809750" y="2857500"/>
            <a:ext cx="2381250" cy="1143000"/>
          </a:xfrm>
          <a:prstGeom prst="trapezoid">
            <a:avLst/>
          </a:prstGeom>
          <a:solidFill>
            <a:srgbClr val="FFF5DE"/>
          </a:solidFill>
          <a:ln w="28575">
            <a:solidFill>
              <a:srgbClr val="F2B544"/>
            </a:solidFill>
          </a:ln>
        </p:spPr>
      </p:sp>
      <p:sp>
        <p:nvSpPr>
          <p:cNvPr id="9" name="椭圆 8">
            <a:extLst>
              <a:ext uri="{FF2B5EF4-FFF2-40B4-BE49-F238E27FC236}">
                <ns2:creationId id="{3108D9D8-84F1-4EDB-BB96-B3DCBFFD0DB1}"/>
              </a:ext>
            </a:extLst>
          </p:cNvPr>
          <p:cNvSpPr>
            <a:spLocks noGrp="1"/>
          </p:cNvSpPr>
          <p:nvPr/>
        </p:nvSpPr>
        <p:spPr>
          <a:xfrm>
            <a:off x="2914650" y="3238500"/>
            <a:ext cx="228600" cy="228600"/>
          </a:xfrm>
          <a:prstGeom prst="ellipse">
            <a:avLst/>
          </a:prstGeom>
          <a:solidFill>
            <a:srgbClr val="D95C59"/>
          </a:solidFill>
          <a:ln w="19050">
            <a:solidFill>
              <a:srgbClr val="FFFFFF"/>
            </a:solidFill>
          </a:ln>
        </p:spPr>
      </p:sp>
      <p:sp>
        <p:nvSpPr>
          <p:cNvPr id="10" name="矩形 9">
            <a:extLst>
              <a:ext uri="{FF2B5EF4-FFF2-40B4-BE49-F238E27FC236}">
                <ns2:creationId id="{98D59458-DD25-4B06-B84F-916FE3771786}"/>
              </a:ext>
            </a:extLst>
          </p:cNvPr>
          <p:cNvSpPr>
            <a:spLocks noGrp="1"/>
          </p:cNvSpPr>
          <p:nvPr/>
        </p:nvSpPr>
        <p:spPr>
          <a:xfrm>
            <a:off x="2667000" y="3524250"/>
            <a:ext cx="990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125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rPr>
              <a:t>规则卡原因码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4F3B6391-2A0D-4F76-8A45-312690BCD8B5}"/>
              </a:ext>
            </a:extLst>
          </p:cNvPr>
          <p:cNvSpPr>
            <a:spLocks noGrp="1"/>
          </p:cNvSpPr>
          <p:nvPr/>
        </p:nvSpPr>
        <p:spPr>
          <a:xfrm>
            <a:off x="1238250" y="483870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42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输出如 DEPTH_INSUFFICIENT、TRUNK_LEAN_EXCESSIVE 等明确标签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F64CCC50-BC6B-4B04-B9C9-A1C2B676FCC4}"/>
              </a:ext>
            </a:extLst>
          </p:cNvPr>
          <p:cNvSpPr>
            <a:spLocks noGrp="1"/>
          </p:cNvSpPr>
          <p:nvPr/>
        </p:nvSpPr>
        <p:spPr>
          <a:xfrm>
            <a:off x="7067550" y="1524000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生成式 AI 私教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6DDA1B72-7B63-430F-98B6-3F097DB4E71D}"/>
              </a:ext>
            </a:extLst>
          </p:cNvPr>
          <p:cNvSpPr>
            <a:spLocks noGrp="1"/>
          </p:cNvSpPr>
          <p:nvPr/>
        </p:nvSpPr>
        <p:spPr>
          <a:xfrm>
            <a:off x="7239000" y="2228850"/>
            <a:ext cx="3905250" cy="2419350"/>
          </a:xfrm>
          <a:prstGeom prst="rect">
            <a:avLst/>
          </a:prstGeom>
          <a:solidFill>
            <a:srgbClr val="EEF3F5"/>
          </a:solidFill>
          <a:ln w="9525">
            <a:solidFill>
              <a:srgbClr val="CBD7DD"/>
            </a:solidFill>
          </a:ln>
        </p:spPr>
      </p:sp>
      <p:sp>
        <p:nvSpPr>
          <p:cNvPr id="14" name="直接连接符 13">
            <a:extLst>
              <a:ext uri="{FF2B5EF4-FFF2-40B4-BE49-F238E27FC236}">
                <ns2:creationId id="{BB2AFDA6-10A3-4FF8-9F10-EDB501CDA69E}"/>
              </a:ext>
            </a:extLst>
          </p:cNvPr>
          <p:cNvSpPr>
            <a:spLocks noGrp="1"/>
          </p:cNvSpPr>
          <p:nvPr/>
        </p:nvSpPr>
        <p:spPr>
          <a:xfrm>
            <a:off x="7696200" y="3448050"/>
            <a:ext cx="2952750" cy="0"/>
          </a:xfrm>
          <a:prstGeom prst="line">
            <a:avLst/>
          </a:prstGeom>
          <a:noFill/>
          <a:ln w="38100">
            <a:solidFill>
              <a:srgbClr val="D95C59"/>
            </a:solidFill>
          </a:ln>
        </p:spPr>
      </p:sp>
      <p:sp>
        <p:nvSpPr>
          <p:cNvPr id="15" name="椭圆 14">
            <a:extLst>
              <a:ext uri="{FF2B5EF4-FFF2-40B4-BE49-F238E27FC236}">
                <ns2:creationId id="{95491C93-3AF4-4975-87C0-9AF352E84A0D}"/>
              </a:ext>
            </a:extLst>
          </p:cNvPr>
          <p:cNvSpPr>
            <a:spLocks noGrp="1"/>
          </p:cNvSpPr>
          <p:nvPr/>
        </p:nvSpPr>
        <p:spPr>
          <a:xfrm>
            <a:off x="8096250" y="2724150"/>
            <a:ext cx="285750" cy="285750"/>
          </a:xfrm>
          <a:prstGeom prst="ellipse">
            <a:avLst/>
          </a:prstGeom>
          <a:solidFill>
            <a:srgbClr val="0B8F8A"/>
          </a:solidFill>
          <a:ln w="19050">
            <a:solidFill>
              <a:srgbClr val="FFFFFF"/>
            </a:solidFill>
          </a:ln>
        </p:spPr>
      </p:sp>
      <p:sp>
        <p:nvSpPr>
          <p:cNvPr id="16" name="椭圆 15">
            <a:extLst>
              <a:ext uri="{FF2B5EF4-FFF2-40B4-BE49-F238E27FC236}">
                <ns2:creationId id="{B8C7C005-8487-451C-870A-2311461B3832}"/>
              </a:ext>
            </a:extLst>
          </p:cNvPr>
          <p:cNvSpPr>
            <a:spLocks noGrp="1"/>
          </p:cNvSpPr>
          <p:nvPr/>
        </p:nvSpPr>
        <p:spPr>
          <a:xfrm>
            <a:off x="9963150" y="3943350"/>
            <a:ext cx="285750" cy="285750"/>
          </a:xfrm>
          <a:prstGeom prst="ellipse">
            <a:avLst/>
          </a:prstGeom>
          <a:solidFill>
            <a:srgbClr val="F2B544"/>
          </a:solidFill>
          <a:ln w="19050">
            <a:solidFill>
              <a:srgbClr val="FFFFFF"/>
            </a:solidFill>
          </a:ln>
        </p:spPr>
      </p:sp>
      <p:cxnSp>
        <p:nvCxnSpPr>
          <p:cNvPr id="36" name="直接箭头连接符 35"/>
          <p:cNvCxnSpPr>
            <a:stCxn id="15" idx="5"/>
            <a:endCxn id="16" idx="1"/>
          </p:cNvCxnSpPr>
          <p:nvPr/>
        </p:nvCxnSpPr>
        <p:spPr>
          <a:xfrm>
            <a:off x="8340153" y="2968053"/>
            <a:ext cx="1664844" cy="1017144"/>
          </a:xfrm>
          <a:prstGeom prst="straightConnector1">
            <a:avLst/>
          </a:prstGeom>
          <a:ln w="28575">
            <a:solidFill>
              <a:srgbClr val="123954"/>
            </a:solidFill>
            <a:prstDash val="solid"/>
            <a:tailEnd type="triangle" w="med" len="med"/>
          </a:ln>
        </p:spPr>
      </p:cxnSp>
      <p:sp>
        <p:nvSpPr>
          <p:cNvPr id="18" name="矩形 17">
            <a:extLst>
              <a:ext uri="{FF2B5EF4-FFF2-40B4-BE49-F238E27FC236}">
                <ns2:creationId id="{F8B884B4-2116-4249-9388-2F42946BE131}"/>
              </a:ext>
            </a:extLst>
          </p:cNvPr>
          <p:cNvSpPr>
            <a:spLocks noGrp="1"/>
          </p:cNvSpPr>
          <p:nvPr/>
        </p:nvSpPr>
        <p:spPr>
          <a:xfrm>
            <a:off x="7429500" y="483870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42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DeepSeek 将生硬数据转化为温和口语化指导，离线自动优雅降级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69C34BB3-8E82-4338-8588-282B7C52614C}"/>
              </a:ext>
            </a:extLst>
          </p:cNvPr>
          <p:cNvSpPr>
            <a:spLocks noGrp="1"/>
          </p:cNvSpPr>
          <p:nvPr/>
        </p:nvSpPr>
        <p:spPr>
          <a:xfrm>
            <a:off x="1257300" y="5829300"/>
            <a:ext cx="9677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全链路留痕：同步导出同时间戳 JSON/CSV 结构化日志，支持回放核查与动作切片下钻</a:t>
            </a:r>
          </a:p>
        </p:txBody>
      </p:sp>
    </p:spTree>
    <p:extLst>
      <p:ext uri="{BB962C8B-B14F-4D97-AF65-F5344CB8AC3E}">
        <ns3:creationId val="99253906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ns2:creationId id="{B9A7CAD6-23BF-4DEC-9A4A-79E1F5B8C7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ns2:creationId id="{8DA2D35A-4F1D-496D-9413-C264C881C5D1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现有基础与原型实现进展</a:t>
            </a:r>
          </a:p>
        </p:txBody>
      </p:sp>
      <p:sp>
        <p:nvSpPr>
          <p:cNvPr id="3" name="矩形 2">
            <a:extLst>
              <a:ext uri="{FF2B5EF4-FFF2-40B4-BE49-F238E27FC236}">
                <ns2:creationId id="{510D7B0E-4940-4284-8B87-80CCBBCCD68E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核心算法与交互演示端已实现工程闭环，软硬件协同验证就绪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C2667BEF-BA2C-494F-8C0C-463788A11556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ns2:creationId id="{865BE0FE-B080-42E7-9681-5A8CC50AD111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rcRect l="6926" r="6926"/>
          <a:stretch>
            <a:fillRect/>
          </a:stretch>
        </p:blipFill>
        <p:spPr>
          <a:xfrm>
            <a:off x="666750" y="1581150"/>
            <a:ext cx="3238500" cy="2114550"/>
          </a:xfrm>
          <a:prstGeom prst="roundRect">
            <a:avLst>
              <a:gd name="adj" fmla="val 5405"/>
            </a:avLst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rcRect l="6926" r="6926"/>
          <a:stretch>
            <a:fillRect/>
          </a:stretch>
        </p:blipFill>
        <p:spPr>
          <a:xfrm>
            <a:off x="4191000" y="1581150"/>
            <a:ext cx="3238500" cy="2114550"/>
          </a:xfrm>
          <a:prstGeom prst="roundRect">
            <a:avLst>
              <a:gd name="adj" fmla="val 5405"/>
            </a:avLst>
          </a:prstGeom>
        </p:spPr>
      </p:pic>
      <p:sp>
        <p:nvSpPr>
          <p:cNvPr id="8" name="矩形 7">
            <a:extLst>
              <a:ext uri="{FF2B5EF4-FFF2-40B4-BE49-F238E27FC236}">
                <ns2:creationId id="{FA064F3E-A924-4F02-ABF7-1A0B51A12A5D}"/>
              </a:ext>
            </a:extLst>
          </p:cNvPr>
          <p:cNvSpPr>
            <a:spLocks noGrp="1"/>
          </p:cNvSpPr>
          <p:nvPr/>
        </p:nvSpPr>
        <p:spPr>
          <a:xfrm>
            <a:off x="8020050" y="1504950"/>
            <a:ext cx="2857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37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48项</a:t>
            </a:r>
          </a:p>
        </p:txBody>
      </p:sp>
      <p:sp>
        <p:nvSpPr>
          <p:cNvPr id="9" name="矩形 8">
            <a:extLst>
              <a:ext uri="{FF2B5EF4-FFF2-40B4-BE49-F238E27FC236}">
                <ns2:creationId id="{896DA4BE-4FDB-49DA-A723-5F621E431988}"/>
              </a:ext>
            </a:extLst>
          </p:cNvPr>
          <p:cNvSpPr>
            <a:spLocks noGrp="1"/>
          </p:cNvSpPr>
          <p:nvPr/>
        </p:nvSpPr>
        <p:spPr>
          <a:xfrm>
            <a:off x="8020050" y="22669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9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单元测试全部PASS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9279C819-DEA7-4E77-A3BD-8DF33706DA63}"/>
              </a:ext>
            </a:extLst>
          </p:cNvPr>
          <p:cNvSpPr>
            <a:spLocks noGrp="1"/>
          </p:cNvSpPr>
          <p:nvPr/>
        </p:nvSpPr>
        <p:spPr>
          <a:xfrm>
            <a:off x="8020050" y="28384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25+ FPS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3E72B306-E00B-493F-A239-03C96E7461D1}"/>
              </a:ext>
            </a:extLst>
          </p:cNvPr>
          <p:cNvSpPr>
            <a:spLocks noGrp="1"/>
          </p:cNvSpPr>
          <p:nvPr/>
        </p:nvSpPr>
        <p:spPr>
          <a:xfrm>
            <a:off x="666750" y="384810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实时端到端帧率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79800BB2-7637-49F9-8233-AC2A9A276283}"/>
              </a:ext>
            </a:extLst>
          </p:cNvPr>
          <p:cNvSpPr>
            <a:spLocks noGrp="1"/>
          </p:cNvSpPr>
          <p:nvPr/>
        </p:nvSpPr>
        <p:spPr>
          <a:xfrm>
            <a:off x="4191000" y="384810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工程原型状态</a:t>
            </a:r>
          </a:p>
        </p:txBody>
      </p:sp>
      <p:sp>
        <p:nvSpPr>
          <p:cNvPr id="13" name="直接连接符 12">
            <a:extLst>
              <a:ext uri="{FF2B5EF4-FFF2-40B4-BE49-F238E27FC236}">
                <ns2:creationId id="{77242E99-8078-46A2-8BB7-F29CF9DBD305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10429875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14" name="矩形 13">
            <a:extLst>
              <a:ext uri="{FF2B5EF4-FFF2-40B4-BE49-F238E27FC236}">
                <ns2:creationId id="{03141123-7B44-42F6-AB4D-C513E6776100}"/>
              </a:ext>
            </a:extLst>
          </p:cNvPr>
          <p:cNvSpPr>
            <a:spLocks noGrp="1"/>
          </p:cNvSpPr>
          <p:nvPr/>
        </p:nvSpPr>
        <p:spPr>
          <a:xfrm>
            <a:off x="800100" y="4629150"/>
            <a:ext cx="161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8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已全面实现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ADF598B6-5870-44B1-8B2A-6F5FB837D309}"/>
              </a:ext>
            </a:extLst>
          </p:cNvPr>
          <p:cNvSpPr>
            <a:spLocks noGrp="1"/>
          </p:cNvSpPr>
          <p:nvPr/>
        </p:nvSpPr>
        <p:spPr>
          <a:xfrm>
            <a:off x="2381250" y="462915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Web交互演示端、离线/实时双模式、四大维度规则、DeepSeek接入、CPU/GPU自适应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C1193245-FCD6-4F7D-9298-C025F579C00D}"/>
              </a:ext>
            </a:extLst>
          </p:cNvPr>
          <p:cNvSpPr>
            <a:spLocks noGrp="1"/>
          </p:cNvSpPr>
          <p:nvPr/>
        </p:nvSpPr>
        <p:spPr>
          <a:xfrm>
            <a:off x="800100" y="5314950"/>
            <a:ext cx="161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80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扩展性储备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D6FED02F-A161-4DFD-9F9D-34681DDE132D}"/>
              </a:ext>
            </a:extLst>
          </p:cNvPr>
          <p:cNvSpPr>
            <a:spLocks noGrp="1"/>
          </p:cNvSpPr>
          <p:nvPr/>
        </p:nvSpPr>
        <p:spPr>
          <a:xfrm>
            <a:off x="2381250" y="531495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YOLOv8 与 DeepSORT 权重及代码完备，已验证接口，作为后续多人训练场景扩展储备</a:t>
            </a:r>
          </a:p>
        </p:txBody>
      </p:sp>
      <p:sp>
        <p:nvSpPr>
          <p:cNvPr id="18" name="矩形 17">
            <a:extLst>
              <a:ext uri="{FF2B5EF4-FFF2-40B4-BE49-F238E27FC236}">
                <ns2:creationId id="{AB114582-3D7E-41AB-BDC2-412B971DD140}"/>
              </a:ext>
            </a:extLst>
          </p:cNvPr>
          <p:cNvSpPr>
            <a:spLocks noGrp="1"/>
          </p:cNvSpPr>
          <p:nvPr/>
        </p:nvSpPr>
        <p:spPr>
          <a:xfrm>
            <a:off x="2381250" y="594360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350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rPr>
              <a:t>开题边界明确：单人姿态时序为核心，大模型与Web端为先期验证的技术进阶亮点</a:t>
            </a:r>
          </a:p>
        </p:txBody>
      </p:sp>
    </p:spTree>
    <p:extLst>
      <p:ext uri="{BB962C8B-B14F-4D97-AF65-F5344CB8AC3E}">
        <ns4:creationId val="1739586040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ns2:creationId id="{63DD2AF0-48C9-4F03-A810-C852E41514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ns2:creationId id="{57C5719B-6DCE-45A6-84F0-AA06064B3AE3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实验方案与功能性验证</a:t>
            </a:r>
          </a:p>
        </p:txBody>
      </p:sp>
      <p:sp>
        <p:nvSpPr>
          <p:cNvPr id="3" name="矩形 2">
            <a:extLst>
              <a:ext uri="{FF2B5EF4-FFF2-40B4-BE49-F238E27FC236}">
                <ns2:creationId id="{41304897-5A9D-4F3B-B0C1-04EED66F3DDA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建立受控深蹲测试集与人工复核标准，以严谨量化指标评估系统可靠性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67274676-EAE1-4EE8-A862-77A11C73C95E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ns2:creationId id="{C84E17AD-4D0D-4EF6-8073-CDD7F52504DD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ns2:creationId id="{D482E948-3412-4398-95E4-0D64B3B5BC5E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114300" cy="55245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ns2:creationId id="{A5489C63-EBE3-4C72-B445-AB768EB7E2BE}"/>
              </a:ext>
            </a:extLst>
          </p:cNvPr>
          <p:cNvSpPr>
            <a:spLocks noGrp="1"/>
          </p:cNvSpPr>
          <p:nvPr/>
        </p:nvSpPr>
        <p:spPr>
          <a:xfrm>
            <a:off x="1123950" y="1581150"/>
            <a:ext cx="2095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8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计数准确性</a:t>
            </a:r>
          </a:p>
        </p:txBody>
      </p:sp>
      <p:sp>
        <p:nvSpPr>
          <p:cNvPr id="8" name="矩形 7">
            <a:extLst>
              <a:ext uri="{FF2B5EF4-FFF2-40B4-BE49-F238E27FC236}">
                <ns2:creationId id="{0DDF59F7-CDCE-41BC-A6BD-89BEE592394E}"/>
              </a:ext>
            </a:extLst>
          </p:cNvPr>
          <p:cNvSpPr>
            <a:spLocks noGrp="1"/>
          </p:cNvSpPr>
          <p:nvPr/>
        </p:nvSpPr>
        <p:spPr>
          <a:xfrm>
            <a:off x="3333750" y="158115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平均绝对误差 (MAE)、检出率</a:t>
            </a:r>
          </a:p>
        </p:txBody>
      </p:sp>
      <p:sp>
        <p:nvSpPr>
          <p:cNvPr id="9" name="矩形 8">
            <a:extLst>
              <a:ext uri="{FF2B5EF4-FFF2-40B4-BE49-F238E27FC236}">
                <ns2:creationId id="{B2BD9F50-26E7-49CE-BDB2-449D47F6CA5D}"/>
              </a:ext>
            </a:extLst>
          </p:cNvPr>
          <p:cNvSpPr>
            <a:spLocks noGrp="1"/>
          </p:cNvSpPr>
          <p:nvPr/>
        </p:nvSpPr>
        <p:spPr>
          <a:xfrm>
            <a:off x="781050" y="2533650"/>
            <a:ext cx="114300" cy="552450"/>
          </a:xfrm>
          <a:prstGeom prst="rect">
            <a:avLst/>
          </a:prstGeom>
          <a:solidFill>
            <a:srgbClr val="123954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ns2:creationId id="{EA1A1667-D79F-422C-8474-966AA0B03632}"/>
              </a:ext>
            </a:extLst>
          </p:cNvPr>
          <p:cNvSpPr>
            <a:spLocks noGrp="1"/>
          </p:cNvSpPr>
          <p:nvPr/>
        </p:nvSpPr>
        <p:spPr>
          <a:xfrm>
            <a:off x="1123950" y="2457450"/>
            <a:ext cx="2095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80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rPr>
              <a:t>阶段判定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35FE91CB-552D-448B-8F33-86AEFD89D3A3}"/>
              </a:ext>
            </a:extLst>
          </p:cNvPr>
          <p:cNvSpPr>
            <a:spLocks noGrp="1"/>
          </p:cNvSpPr>
          <p:nvPr/>
        </p:nvSpPr>
        <p:spPr>
          <a:xfrm>
            <a:off x="3333750" y="245745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拐点帧平均误差、状态一致率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4EF69911-52D4-4791-903C-7411C3003057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114300" cy="552450"/>
          </a:xfrm>
          <a:prstGeom prst="rect">
            <a:avLst/>
          </a:prstGeom>
          <a:solidFill>
            <a:srgbClr val="F2B544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ns2:creationId id="{19662DB1-BF54-487A-91BA-CE2FFA0AADA9}"/>
              </a:ext>
            </a:extLst>
          </p:cNvPr>
          <p:cNvSpPr>
            <a:spLocks noGrp="1"/>
          </p:cNvSpPr>
          <p:nvPr/>
        </p:nvSpPr>
        <p:spPr>
          <a:xfrm>
            <a:off x="1123950" y="3333750"/>
            <a:ext cx="2095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80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规则反馈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BA9A7E7F-34CE-4403-9FCD-E10879B41906}"/>
              </a:ext>
            </a:extLst>
          </p:cNvPr>
          <p:cNvSpPr>
            <a:spLocks noGrp="1"/>
          </p:cNvSpPr>
          <p:nvPr/>
        </p:nvSpPr>
        <p:spPr>
          <a:xfrm>
            <a:off x="3333750" y="333375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人工复核一致率、问题查全查准率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AFFEAAB1-3D26-4A50-8957-FBF701FC80E6}"/>
              </a:ext>
            </a:extLst>
          </p:cNvPr>
          <p:cNvSpPr>
            <a:spLocks noGrp="1"/>
          </p:cNvSpPr>
          <p:nvPr/>
        </p:nvSpPr>
        <p:spPr>
          <a:xfrm>
            <a:off x="781050" y="4286250"/>
            <a:ext cx="114300" cy="552450"/>
          </a:xfrm>
          <a:prstGeom prst="rect">
            <a:avLst/>
          </a:prstGeom>
          <a:solidFill>
            <a:srgbClr val="D95C59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ns2:creationId id="{17CC6BF9-EEC8-43F7-9C11-759C0ABFDA33}"/>
              </a:ext>
            </a:extLst>
          </p:cNvPr>
          <p:cNvSpPr>
            <a:spLocks noGrp="1"/>
          </p:cNvSpPr>
          <p:nvPr/>
        </p:nvSpPr>
        <p:spPr>
          <a:xfrm>
            <a:off x="1123950" y="4210050"/>
            <a:ext cx="2095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800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rPr>
              <a:t>鲁棒与性能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C983AB76-CB84-46D4-8C48-5D7C452045C5}"/>
              </a:ext>
            </a:extLst>
          </p:cNvPr>
          <p:cNvSpPr>
            <a:spLocks noGrp="1"/>
          </p:cNvSpPr>
          <p:nvPr/>
        </p:nvSpPr>
        <p:spPr>
          <a:xfrm>
            <a:off x="3333750" y="421005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出框抑制率 (100%)、单帧延迟 (ms)、FPS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70330E87-9F51-4D30-B560-3A3E8C7B6C8B}"/>
              </a:ext>
            </a:extLst>
          </p:cNvPr>
          <p:cNvSpPr>
            <a:spLocks noGrp="1"/>
          </p:cNvSpPr>
          <p:nvPr/>
        </p:nvSpPr>
        <p:spPr>
          <a:xfrm>
            <a:off x="819150" y="5276850"/>
            <a:ext cx="10287000" cy="895350"/>
          </a:xfrm>
          <a:prstGeom prst="roundRect">
            <a:avLst>
              <a:gd name="adj" fmla="val 10638"/>
            </a:avLst>
          </a:prstGeom>
          <a:solidFill>
            <a:srgbClr val="EEF3F5"/>
          </a:solidFill>
          <a:ln w="9525">
            <a:solidFill>
              <a:srgbClr val="CBD7DD"/>
            </a:solidFill>
          </a:ln>
        </p:spPr>
      </p:sp>
      <p:sp>
        <p:nvSpPr>
          <p:cNvPr id="19" name="矩形 18">
            <a:extLst>
              <a:ext uri="{FF2B5EF4-FFF2-40B4-BE49-F238E27FC236}">
                <ns2:creationId id="{DF7F5559-6467-4A09-980E-3C15A2C99961}"/>
              </a:ext>
            </a:extLst>
          </p:cNvPr>
          <p:cNvSpPr>
            <a:spLocks noGrp="1"/>
          </p:cNvSpPr>
          <p:nvPr/>
        </p:nvSpPr>
        <p:spPr>
          <a:xfrm>
            <a:off x="1028700" y="542925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受控验证策略</a:t>
            </a:r>
          </a:p>
        </p:txBody>
      </p:sp>
      <p:sp>
        <p:nvSpPr>
          <p:cNvPr id="20" name="矩形 19">
            <a:extLst>
              <a:ext uri="{FF2B5EF4-FFF2-40B4-BE49-F238E27FC236}">
                <ns2:creationId id="{770CA0C9-0B04-49AA-8E68-B18D27E9BE83}"/>
              </a:ext>
            </a:extLst>
          </p:cNvPr>
          <p:cNvSpPr>
            <a:spLocks noGrp="1"/>
          </p:cNvSpPr>
          <p:nvPr/>
        </p:nvSpPr>
        <p:spPr>
          <a:xfrm>
            <a:off x="2457450" y="5353050"/>
            <a:ext cx="8305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4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采集覆盖标准动作、下蹲过浅、躯干前倾及异常出框的视频集，双人独立标注真值并交叉复核；对比CPU与GPU加速性能，开展消融实验验证平滑与滞回机制有效性。</a:t>
            </a:r>
          </a:p>
        </p:txBody>
      </p:sp>
    </p:spTree>
    <p:extLst>
      <p:ext uri="{BB962C8B-B14F-4D97-AF65-F5344CB8AC3E}">
        <ns3:creationId val="640464520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ns2:creationId id="{5CC81410-D247-4EBB-A153-0B0AE18825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ns2:creationId id="{81A07245-07C3-4B46-BB5A-69EE54825B36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进度安排与预期交付成果</a:t>
            </a:r>
          </a:p>
        </p:txBody>
      </p:sp>
      <p:sp>
        <p:nvSpPr>
          <p:cNvPr id="3" name="矩形 2">
            <a:extLst>
              <a:ext uri="{FF2B5EF4-FFF2-40B4-BE49-F238E27FC236}">
                <ns2:creationId id="{5682CB64-8F1E-4FE2-85FF-28A20C217690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严格遵照时间节点推进，依次完成指标评测、系统优化与毕业论文撰写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0B6EE09A-4D76-4B81-82C6-5774A13FAE75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ns2:creationId id="{5B66C8FE-B5AE-45EC-AB6F-3BD5971C5F85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椭圆 5">
            <a:extLst>
              <a:ext uri="{FF2B5EF4-FFF2-40B4-BE49-F238E27FC236}">
                <ns2:creationId id="{5EEB50AA-62CB-42BA-9C20-11D547CD3664}"/>
              </a:ext>
            </a:extLst>
          </p:cNvPr>
          <p:cNvSpPr>
            <a:spLocks noGrp="1"/>
          </p:cNvSpPr>
          <p:nvPr/>
        </p:nvSpPr>
        <p:spPr>
          <a:xfrm>
            <a:off x="1390650" y="1905000"/>
            <a:ext cx="552450" cy="552450"/>
          </a:xfrm>
          <a:prstGeom prst="ellipse">
            <a:avLst/>
          </a:prstGeom>
          <a:solidFill>
            <a:srgbClr val="0B8F8A"/>
          </a:solidFill>
          <a:ln w="38100">
            <a:solidFill>
              <a:srgbClr val="FFFFFF"/>
            </a:solidFill>
          </a:ln>
        </p:spPr>
      </p:sp>
      <p:sp>
        <p:nvSpPr>
          <p:cNvPr id="7" name="矩形 6">
            <a:extLst>
              <a:ext uri="{FF2B5EF4-FFF2-40B4-BE49-F238E27FC236}">
                <ns2:creationId id="{C57F2872-0C97-4D9D-A67D-615028D9BFBE}"/>
              </a:ext>
            </a:extLst>
          </p:cNvPr>
          <p:cNvSpPr>
            <a:spLocks noGrp="1"/>
          </p:cNvSpPr>
          <p:nvPr/>
        </p:nvSpPr>
        <p:spPr>
          <a:xfrm>
            <a:off x="1390650" y="1905000"/>
            <a:ext cx="5524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ns2:creationId id="{4AB20C87-866C-4EE5-858A-B2955D6F4EAB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原型搭建</a:t>
            </a:r>
          </a:p>
        </p:txBody>
      </p:sp>
      <p:sp>
        <p:nvSpPr>
          <p:cNvPr id="9" name="矩形 8">
            <a:extLst>
              <a:ext uri="{FF2B5EF4-FFF2-40B4-BE49-F238E27FC236}">
                <ns2:creationId id="{63D26C82-E50A-4B00-8974-A505BE55CD62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需求与环境闭环</a:t>
            </a:r>
          </a:p>
        </p:txBody>
      </p:sp>
      <p:sp>
        <p:nvSpPr>
          <p:cNvPr id="10" name="椭圆 9">
            <a:extLst>
              <a:ext uri="{FF2B5EF4-FFF2-40B4-BE49-F238E27FC236}">
                <ns2:creationId id="{53A64129-73BA-46BB-8861-C6D26F85A8D6}"/>
              </a:ext>
            </a:extLst>
          </p:cNvPr>
          <p:cNvSpPr>
            <a:spLocks noGrp="1"/>
          </p:cNvSpPr>
          <p:nvPr/>
        </p:nvSpPr>
        <p:spPr>
          <a:xfrm>
            <a:off x="3676650" y="1905000"/>
            <a:ext cx="552450" cy="552450"/>
          </a:xfrm>
          <a:prstGeom prst="ellipse">
            <a:avLst/>
          </a:prstGeom>
          <a:solidFill>
            <a:srgbClr val="0B8F8A"/>
          </a:solidFill>
          <a:ln w="38100">
            <a:solidFill>
              <a:srgbClr val="FFFFFF"/>
            </a:solidFill>
          </a:ln>
        </p:spPr>
      </p:sp>
      <p:sp>
        <p:nvSpPr>
          <p:cNvPr id="11" name="矩形 10">
            <a:extLst>
              <a:ext uri="{FF2B5EF4-FFF2-40B4-BE49-F238E27FC236}">
                <ns2:creationId id="{AE6FF2B6-CFC2-4BA5-9910-1C3D9B701083}"/>
              </a:ext>
            </a:extLst>
          </p:cNvPr>
          <p:cNvSpPr>
            <a:spLocks noGrp="1"/>
          </p:cNvSpPr>
          <p:nvPr/>
        </p:nvSpPr>
        <p:spPr>
          <a:xfrm>
            <a:off x="3676650" y="1905000"/>
            <a:ext cx="5524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71C901FF-EA84-4408-B998-24686A2DA89E}"/>
              </a:ext>
            </a:extLst>
          </p:cNvPr>
          <p:cNvSpPr>
            <a:spLocks noGrp="1"/>
          </p:cNvSpPr>
          <p:nvPr/>
        </p:nvSpPr>
        <p:spPr>
          <a:xfrm>
            <a:off x="2952750" y="27241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算法验证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783D0845-BD57-4C66-9052-82F4528D2755}"/>
              </a:ext>
            </a:extLst>
          </p:cNvPr>
          <p:cNvSpPr>
            <a:spLocks noGrp="1"/>
          </p:cNvSpPr>
          <p:nvPr/>
        </p:nvSpPr>
        <p:spPr>
          <a:xfrm>
            <a:off x="2952750" y="3181350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受控实验与指标</a:t>
            </a:r>
          </a:p>
        </p:txBody>
      </p:sp>
      <p:cxnSp>
        <p:nvCxnSpPr>
          <p:cNvPr id="47" name="直接箭头连接符 46"/>
          <p:cNvCxnSpPr>
            <a:stCxn id="6" idx="6"/>
            <a:endCxn id="10" idx="2"/>
          </p:cNvCxnSpPr>
          <p:nvPr/>
        </p:nvCxnSpPr>
        <p:spPr>
          <a:xfrm>
            <a:off x="1943100" y="2181225"/>
            <a:ext cx="1733550" cy="0"/>
          </a:xfrm>
          <a:prstGeom prst="straightConnector1">
            <a:avLst/>
          </a:prstGeom>
          <a:ln w="28575">
            <a:solidFill>
              <a:srgbClr val="CBD7DD"/>
            </a:solidFill>
            <a:prstDash val="solid"/>
            <a:tailEnd type="triangle" w="sm" len="sm"/>
          </a:ln>
        </p:spPr>
      </p:cxnSp>
      <p:sp>
        <p:nvSpPr>
          <p:cNvPr id="15" name="椭圆 14">
            <a:extLst>
              <a:ext uri="{FF2B5EF4-FFF2-40B4-BE49-F238E27FC236}">
                <ns2:creationId id="{EEC33CDB-89A4-40C6-80E6-15649EFC8525}"/>
              </a:ext>
            </a:extLst>
          </p:cNvPr>
          <p:cNvSpPr>
            <a:spLocks noGrp="1"/>
          </p:cNvSpPr>
          <p:nvPr/>
        </p:nvSpPr>
        <p:spPr>
          <a:xfrm>
            <a:off x="5962650" y="1905000"/>
            <a:ext cx="552450" cy="552450"/>
          </a:xfrm>
          <a:prstGeom prst="ellipse">
            <a:avLst/>
          </a:prstGeom>
          <a:solidFill>
            <a:srgbClr val="0B8F8A"/>
          </a:solidFill>
          <a:ln w="38100">
            <a:solidFill>
              <a:srgbClr val="FFFFFF"/>
            </a:solidFill>
          </a:ln>
        </p:spPr>
      </p:sp>
      <p:sp>
        <p:nvSpPr>
          <p:cNvPr id="16" name="矩形 15">
            <a:extLst>
              <a:ext uri="{FF2B5EF4-FFF2-40B4-BE49-F238E27FC236}">
                <ns2:creationId id="{04485A12-E109-4811-8B29-AB8EBD8BA42B}"/>
              </a:ext>
            </a:extLst>
          </p:cNvPr>
          <p:cNvSpPr>
            <a:spLocks noGrp="1"/>
          </p:cNvSpPr>
          <p:nvPr/>
        </p:nvSpPr>
        <p:spPr>
          <a:xfrm>
            <a:off x="5962650" y="1905000"/>
            <a:ext cx="5524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8E5A56B9-1183-43EB-BE7A-9FED84C46792}"/>
              </a:ext>
            </a:extLst>
          </p:cNvPr>
          <p:cNvSpPr>
            <a:spLocks noGrp="1"/>
          </p:cNvSpPr>
          <p:nvPr/>
        </p:nvSpPr>
        <p:spPr>
          <a:xfrm>
            <a:off x="5238750" y="27241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初稿撰写</a:t>
            </a:r>
          </a:p>
        </p:txBody>
      </p:sp>
      <p:sp>
        <p:nvSpPr>
          <p:cNvPr id="18" name="矩形 17">
            <a:extLst>
              <a:ext uri="{FF2B5EF4-FFF2-40B4-BE49-F238E27FC236}">
                <ns2:creationId id="{02FBBF6A-6A07-467A-942D-A32B3C1EB312}"/>
              </a:ext>
            </a:extLst>
          </p:cNvPr>
          <p:cNvSpPr>
            <a:spLocks noGrp="1"/>
          </p:cNvSpPr>
          <p:nvPr/>
        </p:nvSpPr>
        <p:spPr>
          <a:xfrm>
            <a:off x="5238750" y="3181350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中期检查与复核</a:t>
            </a:r>
          </a:p>
        </p:txBody>
      </p:sp>
      <p:cxnSp>
        <p:nvCxnSpPr>
          <p:cNvPr id="52" name="直接箭头连接符 51"/>
          <p:cNvCxnSpPr>
            <a:stCxn id="10" idx="6"/>
            <a:endCxn id="15" idx="2"/>
          </p:cNvCxnSpPr>
          <p:nvPr/>
        </p:nvCxnSpPr>
        <p:spPr>
          <a:xfrm>
            <a:off x="4229100" y="2181225"/>
            <a:ext cx="1733550" cy="0"/>
          </a:xfrm>
          <a:prstGeom prst="straightConnector1">
            <a:avLst/>
          </a:prstGeom>
          <a:ln w="28575">
            <a:solidFill>
              <a:srgbClr val="CBD7DD"/>
            </a:solidFill>
            <a:prstDash val="solid"/>
            <a:tailEnd type="triangle" w="sm" len="sm"/>
          </a:ln>
        </p:spPr>
      </p:cxnSp>
      <p:sp>
        <p:nvSpPr>
          <p:cNvPr id="20" name="椭圆 19">
            <a:extLst>
              <a:ext uri="{FF2B5EF4-FFF2-40B4-BE49-F238E27FC236}">
                <ns2:creationId id="{DB762379-6D21-4E68-85D6-AF2368ACB298}"/>
              </a:ext>
            </a:extLst>
          </p:cNvPr>
          <p:cNvSpPr>
            <a:spLocks noGrp="1"/>
          </p:cNvSpPr>
          <p:nvPr/>
        </p:nvSpPr>
        <p:spPr>
          <a:xfrm>
            <a:off x="8248650" y="1905000"/>
            <a:ext cx="552450" cy="552450"/>
          </a:xfrm>
          <a:prstGeom prst="ellipse">
            <a:avLst/>
          </a:prstGeom>
          <a:solidFill>
            <a:srgbClr val="0B8F8A"/>
          </a:solidFill>
          <a:ln w="38100">
            <a:solidFill>
              <a:srgbClr val="FFFFFF"/>
            </a:solidFill>
          </a:ln>
        </p:spPr>
      </p:sp>
      <p:sp>
        <p:nvSpPr>
          <p:cNvPr id="21" name="矩形 20">
            <a:extLst>
              <a:ext uri="{FF2B5EF4-FFF2-40B4-BE49-F238E27FC236}">
                <ns2:creationId id="{035094AE-7BD1-46DD-A218-BDEF481268A3}"/>
              </a:ext>
            </a:extLst>
          </p:cNvPr>
          <p:cNvSpPr>
            <a:spLocks noGrp="1"/>
          </p:cNvSpPr>
          <p:nvPr/>
        </p:nvSpPr>
        <p:spPr>
          <a:xfrm>
            <a:off x="8248650" y="1905000"/>
            <a:ext cx="5524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矩形 21">
            <a:extLst>
              <a:ext uri="{FF2B5EF4-FFF2-40B4-BE49-F238E27FC236}">
                <ns2:creationId id="{55B93E5D-5200-40A9-915A-7784B2FFE684}"/>
              </a:ext>
            </a:extLst>
          </p:cNvPr>
          <p:cNvSpPr>
            <a:spLocks noGrp="1"/>
          </p:cNvSpPr>
          <p:nvPr/>
        </p:nvSpPr>
        <p:spPr>
          <a:xfrm>
            <a:off x="7524750" y="27241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完善查重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20D14810-27DE-405A-A0F0-1EE0127A1D95}"/>
              </a:ext>
            </a:extLst>
          </p:cNvPr>
          <p:cNvSpPr>
            <a:spLocks noGrp="1"/>
          </p:cNvSpPr>
          <p:nvPr/>
        </p:nvSpPr>
        <p:spPr>
          <a:xfrm>
            <a:off x="7524750" y="3181350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系统调优与降重</a:t>
            </a:r>
          </a:p>
        </p:txBody>
      </p:sp>
      <p:cxnSp>
        <p:nvCxnSpPr>
          <p:cNvPr id="57" name="直接箭头连接符 56"/>
          <p:cNvCxnSpPr>
            <a:stCxn id="15" idx="6"/>
            <a:endCxn id="20" idx="2"/>
          </p:cNvCxnSpPr>
          <p:nvPr/>
        </p:nvCxnSpPr>
        <p:spPr>
          <a:xfrm>
            <a:off x="6515100" y="2181225"/>
            <a:ext cx="1733550" cy="0"/>
          </a:xfrm>
          <a:prstGeom prst="straightConnector1">
            <a:avLst/>
          </a:prstGeom>
          <a:ln w="28575">
            <a:solidFill>
              <a:srgbClr val="CBD7DD"/>
            </a:solidFill>
            <a:prstDash val="solid"/>
            <a:tailEnd type="triangle" w="sm" len="sm"/>
          </a:ln>
        </p:spPr>
      </p:cxnSp>
      <p:sp>
        <p:nvSpPr>
          <p:cNvPr id="25" name="椭圆 24">
            <a:extLst>
              <a:ext uri="{FF2B5EF4-FFF2-40B4-BE49-F238E27FC236}">
                <ns2:creationId id="{E46C73E1-015E-4E30-9A4C-F1C280D79E91}"/>
              </a:ext>
            </a:extLst>
          </p:cNvPr>
          <p:cNvSpPr>
            <a:spLocks noGrp="1"/>
          </p:cNvSpPr>
          <p:nvPr/>
        </p:nvSpPr>
        <p:spPr>
          <a:xfrm>
            <a:off x="10534650" y="1905000"/>
            <a:ext cx="552450" cy="552450"/>
          </a:xfrm>
          <a:prstGeom prst="ellipse">
            <a:avLst/>
          </a:prstGeom>
          <a:solidFill>
            <a:srgbClr val="F2B544"/>
          </a:solidFill>
          <a:ln w="38100">
            <a:solidFill>
              <a:srgbClr val="FFFFFF"/>
            </a:solidFill>
          </a:ln>
        </p:spPr>
      </p:sp>
      <p:sp>
        <p:nvSpPr>
          <p:cNvPr id="26" name="矩形 25">
            <a:extLst>
              <a:ext uri="{FF2B5EF4-FFF2-40B4-BE49-F238E27FC236}">
                <ns2:creationId id="{B8374296-19F4-4260-ADCC-ED9057DECCEF}"/>
              </a:ext>
            </a:extLst>
          </p:cNvPr>
          <p:cNvSpPr>
            <a:spLocks noGrp="1"/>
          </p:cNvSpPr>
          <p:nvPr/>
        </p:nvSpPr>
        <p:spPr>
          <a:xfrm>
            <a:off x="10534650" y="1905000"/>
            <a:ext cx="5524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矩形 26">
            <a:extLst>
              <a:ext uri="{FF2B5EF4-FFF2-40B4-BE49-F238E27FC236}">
                <ns2:creationId id="{90587475-7310-471C-BC86-5AC014F26381}"/>
              </a:ext>
            </a:extLst>
          </p:cNvPr>
          <p:cNvSpPr>
            <a:spLocks noGrp="1"/>
          </p:cNvSpPr>
          <p:nvPr/>
        </p:nvSpPr>
        <p:spPr>
          <a:xfrm>
            <a:off x="9810750" y="27241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论文答辩</a:t>
            </a:r>
          </a:p>
        </p:txBody>
      </p:sp>
      <p:sp>
        <p:nvSpPr>
          <p:cNvPr id="28" name="矩形 27">
            <a:extLst>
              <a:ext uri="{FF2B5EF4-FFF2-40B4-BE49-F238E27FC236}">
                <ns2:creationId id="{60FFDE5D-E0BC-4026-A8EF-425C2242ACAF}"/>
              </a:ext>
            </a:extLst>
          </p:cNvPr>
          <p:cNvSpPr>
            <a:spLocks noGrp="1"/>
          </p:cNvSpPr>
          <p:nvPr/>
        </p:nvSpPr>
        <p:spPr>
          <a:xfrm>
            <a:off x="9810750" y="3181350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最终成果评定</a:t>
            </a:r>
          </a:p>
        </p:txBody>
      </p:sp>
      <p:cxnSp>
        <p:nvCxnSpPr>
          <p:cNvPr id="62" name="直接箭头连接符 61"/>
          <p:cNvCxnSpPr>
            <a:stCxn id="20" idx="6"/>
            <a:endCxn id="25" idx="2"/>
          </p:cNvCxnSpPr>
          <p:nvPr/>
        </p:nvCxnSpPr>
        <p:spPr>
          <a:xfrm>
            <a:off x="8801100" y="2181225"/>
            <a:ext cx="1733550" cy="0"/>
          </a:xfrm>
          <a:prstGeom prst="straightConnector1">
            <a:avLst/>
          </a:prstGeom>
          <a:ln w="28575">
            <a:solidFill>
              <a:srgbClr val="CBD7DD"/>
            </a:solidFill>
            <a:prstDash val="solid"/>
            <a:tailEnd type="triangle" w="sm" len="sm"/>
          </a:ln>
        </p:spPr>
      </p:cxnSp>
      <p:sp>
        <p:nvSpPr>
          <p:cNvPr id="30" name="直接连接符 29">
            <a:extLst>
              <a:ext uri="{FF2B5EF4-FFF2-40B4-BE49-F238E27FC236}">
                <ns2:creationId id="{405869E9-F9E7-459F-A0D1-755200E49BDC}"/>
              </a:ext>
            </a:extLst>
          </p:cNvPr>
          <p:cNvSpPr>
            <a:spLocks noGrp="1"/>
          </p:cNvSpPr>
          <p:nvPr/>
        </p:nvSpPr>
        <p:spPr>
          <a:xfrm>
            <a:off x="1047750" y="4171950"/>
            <a:ext cx="100965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31" name="矩形 30">
            <a:extLst>
              <a:ext uri="{FF2B5EF4-FFF2-40B4-BE49-F238E27FC236}">
                <ns2:creationId id="{4FCD0F07-2114-4926-B8E3-EA5CCA3EF4DF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20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</a:p>
        </p:txBody>
      </p:sp>
      <p:sp>
        <p:nvSpPr>
          <p:cNvPr id="32" name="矩形 31">
            <a:extLst>
              <a:ext uri="{FF2B5EF4-FFF2-40B4-BE49-F238E27FC236}">
                <ns2:creationId id="{ACAE93F3-22E1-4719-853F-CAC0E8580FA1}"/>
              </a:ext>
            </a:extLst>
          </p:cNvPr>
          <p:cNvSpPr>
            <a:spLocks noGrp="1"/>
          </p:cNvSpPr>
          <p:nvPr/>
        </p:nvSpPr>
        <p:spPr>
          <a:xfrm>
            <a:off x="2781300" y="4552950"/>
            <a:ext cx="8096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可运行Web系统、受控深蹲验证集、定量对比实验报告、高质量本科毕业论文终稿</a:t>
            </a:r>
          </a:p>
        </p:txBody>
      </p:sp>
      <p:sp>
        <p:nvSpPr>
          <p:cNvPr id="33" name="矩形 32">
            <a:extLst>
              <a:ext uri="{FF2B5EF4-FFF2-40B4-BE49-F238E27FC236}">
                <ns2:creationId id="{8DECFE64-53C1-4C80-8F58-7408C22D15B7}"/>
              </a:ext>
            </a:extLst>
          </p:cNvPr>
          <p:cNvSpPr>
            <a:spLocks noGrp="1"/>
          </p:cNvSpPr>
          <p:nvPr/>
        </p:nvSpPr>
        <p:spPr>
          <a:xfrm>
            <a:off x="2381250" y="5619750"/>
            <a:ext cx="7429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汇报完毕，谢谢各位评审老师！请老师批评指正</a:t>
            </a:r>
          </a:p>
        </p:txBody>
      </p:sp>
    </p:spTree>
    <p:extLst>
      <p:ext uri="{BB962C8B-B14F-4D97-AF65-F5344CB8AC3E}">
        <ns3:creationId val="1680590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Microsoft Office PowerPoint</Application>
  <DocSecurity>0</DocSecurity>
  <PresentationFormat>宽屏</PresentationFormat>
  <Paragraphs>197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一帆 曾</cp:lastModifiedBy>
  <cp:revision>1</cp:revision>
  <dcterms:created xsi:type="dcterms:W3CDTF">2026-09-14T04:18:26Z</dcterms:created>
  <dcterms:modified xsi:type="dcterms:W3CDTF">2026-09-19T11:34:00Z</dcterms:modified>
</cp:coreProperties>
</file>